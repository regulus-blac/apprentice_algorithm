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78" r:id="rId26"/>
    <p:sldId id="280" r:id="rId27"/>
    <p:sldId id="281" r:id="rId28"/>
    <p:sldId id="282" r:id="rId29"/>
    <p:sldId id="286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8358500-7DFC-4357-8334-E5ADBE160E6F}">
          <p14:sldIdLst>
            <p14:sldId id="284"/>
            <p14:sldId id="285"/>
          </p14:sldIdLst>
        </p14:section>
        <p14:section name="11" id="{E3A3BDFD-40BD-4EC4-B7CB-B32D6D50D35C}">
          <p14:sldIdLst>
            <p14:sldId id="257"/>
            <p14:sldId id="258"/>
            <p14:sldId id="259"/>
          </p14:sldIdLst>
        </p14:section>
        <p14:section name="13" id="{92FAE0D2-9DCF-4ACC-A36F-154223FCDCD3}">
          <p14:sldIdLst>
            <p14:sldId id="260"/>
            <p14:sldId id="261"/>
            <p14:sldId id="262"/>
          </p14:sldIdLst>
        </p14:section>
        <p14:section name="16" id="{532E39A8-EAEC-49D8-BEF7-8238C6580E88}">
          <p14:sldIdLst>
            <p14:sldId id="263"/>
            <p14:sldId id="264"/>
            <p14:sldId id="265"/>
          </p14:sldIdLst>
        </p14:section>
        <p14:section name="19" id="{BA265006-5DD9-4CBB-8F14-ECD271348DBA}">
          <p14:sldIdLst>
            <p14:sldId id="266"/>
            <p14:sldId id="267"/>
            <p14:sldId id="269"/>
            <p14:sldId id="268"/>
          </p14:sldIdLst>
        </p14:section>
        <p14:section name="20" id="{9081D3CC-6BEA-4D35-AB1F-D1B1EE76E4EE}">
          <p14:sldIdLst>
            <p14:sldId id="270"/>
            <p14:sldId id="271"/>
            <p14:sldId id="272"/>
          </p14:sldIdLst>
        </p14:section>
        <p14:section name="23" id="{B4D85F9F-85A0-4749-A313-663794A930A4}">
          <p14:sldIdLst>
            <p14:sldId id="273"/>
            <p14:sldId id="274"/>
            <p14:sldId id="275"/>
          </p14:sldIdLst>
        </p14:section>
        <p14:section name="24" id="{C5348197-C2A2-4621-AEA1-D67DBAFD1BCA}">
          <p14:sldIdLst>
            <p14:sldId id="276"/>
            <p14:sldId id="277"/>
            <p14:sldId id="279"/>
            <p14:sldId id="278"/>
          </p14:sldIdLst>
        </p14:section>
        <p14:section name="27" id="{03415DBE-EC95-4BA0-B538-CC093A9EA33D}">
          <p14:sldIdLst>
            <p14:sldId id="280"/>
            <p14:sldId id="281"/>
            <p14:sldId id="282"/>
          </p14:sldIdLst>
        </p14:section>
        <p14:section name="总结" id="{64D896BA-40AA-41E3-BAF5-91A2332954FB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218E2-1119-AAB3-1D26-F459AACBC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52CBB2-FFE6-BC81-E567-98F95C590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5523E9-A330-F52F-AB71-DC50BCB5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C75D33-06DD-5945-083E-C22362FA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01485B-85C6-8929-F8D2-7651C4241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40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43C57-65F1-0988-AC97-944455AE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912FD2-8EF3-4342-3720-DBEC81BA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D6D29-17D2-FF40-2C24-EF48E4898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6F3BB-3B00-7EE2-B8C9-843C1B6D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06C235-3D03-F923-299C-CBFD82E7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96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8C15D-3679-95B2-6602-F8E96354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BABEDE-6507-FD3C-65B7-D8BDBD2A9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B105F-DF92-3AC5-D47E-C131FB58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9C1913-3867-F10E-FCEF-1F53DEC68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65E47-D9ED-C77B-20F0-91DE9743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461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7878DB-7CEC-6FF6-0A3D-395C279B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4EAF00-733D-3A78-24F0-BA0E6120D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424D86-0AF5-2217-2104-9D0CBFBF1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D75367-9522-0C1F-005D-2FD8EAB4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27FDF3-95F7-714B-892D-CC49D711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E601B5-6BFC-FE74-56F2-DECFE4D1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F1131-003E-9C65-E7B6-BBEF8635F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D5CFF-3737-41D6-3243-7CB196FC9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AD9008-EE86-47F6-83CB-AA59C828F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066E77-C4D9-B003-4712-DD1DBB7B3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49DEFC-56DF-138A-E605-20794573E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C8F3F34-5CD4-A5E7-B6A1-2888AF23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189C9AA-00EF-72C6-F0AE-1B4DBAF4B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F5EE0C-BD90-FBC3-713A-94722ED2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334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06E8CD-AE0A-E9BB-EF5D-904CFCF9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CDFF5D-8E71-DD7C-9F13-7F735693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5A8BB57-4AC5-2A7F-DDC4-7C18EF35A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446F44-263B-1FE5-AF26-243571B3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5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CD8D0C-CB68-DC54-09BD-00502A17B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CEE2A1-50AA-0F99-F260-FA2E152C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91AFFF-A5DA-99F2-744C-1D4B3512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79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BDDDA-8018-ABB0-24E8-561A0CDC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1E8B3C-5C56-E911-5036-9C95B2065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BCF23A-DD09-EE55-72B3-9C51F6AB9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E711F7-28A8-6031-5368-E87B6193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9917A6-6908-7E9D-7E83-7AD8F45A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D3F2C8-7129-3A05-10A4-3F2A5C63E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238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7AD90-66C7-6C56-C017-CF743AD5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A7C5F8-60E4-A826-69DC-0EDE870551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EC850A-915F-4EF7-C35C-B3EE598A6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4969C9-9E4B-AC99-55A8-C0ED460E2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FB5557-6297-0E32-02DD-EC6CA5321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865463-4153-E074-9AFF-F67D3A14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39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0D258-FEF1-DC94-A8ED-9EDE976E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76311D-9F53-D5DE-1C4A-8FA349483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457B2D-A015-5950-3245-34F51D1B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AC73C-B6AE-EE2C-0A7F-49A9706D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546E6C-3992-59DB-883F-C3FA016A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70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7CBC40-13E3-E426-C2DA-474C3E39F1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8BFDA5-608F-23F4-E6D4-8AA6C1E9A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B560C-AA25-AC44-9BC5-2E600615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BA5A3-45BD-CE6B-F3EF-4A2A16AFB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25D39-EF25-ED70-588C-B78F77E22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1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C0B9D4-AD96-5034-E79B-0FB2E035D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8F58C1-17AA-299B-B2BE-F5A12249B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65896-AC20-040D-DB44-9C5B78ADD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396A1-5699-40B0-89D5-8AA739FAD866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DE833-FC79-0684-3343-A3420752B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A5537-5D16-FF97-7584-9F8299ED6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D9DC8-EA99-4FA1-9385-E010D96EF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88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im.csp.thusaac.com/contest/1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im.csp.thusaac.com/contest/1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sim.csp.thusaac.com/contest/16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im.csp.thusaac.com/contest/1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im.csp.thusaac.com/contest/20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sim.csp.thusaac.com/contest/23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im.csp.thusaac.com/contest/2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sim.csp.thusaac.com/contest/27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3E2CA-6C16-799C-BE68-7A7EFE5D76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CSP</a:t>
            </a:r>
            <a:r>
              <a:rPr lang="zh-CN" altLang="en-US"/>
              <a:t>第一题选讲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DE5424-B70F-653E-5CF8-F768F4A97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16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5CE49-8902-5500-7349-0AD1D864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AF13E-5B7B-8DCB-A79D-B316D76CC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Acwing</a:t>
            </a:r>
            <a:r>
              <a:rPr lang="zh-CN" altLang="en-US" dirty="0"/>
              <a:t>在线测试平台上可以做往年真题。</a:t>
            </a:r>
            <a:endParaRPr lang="en-US" altLang="zh-CN" dirty="0"/>
          </a:p>
          <a:p>
            <a:r>
              <a:rPr lang="zh-CN" altLang="en-US" dirty="0"/>
              <a:t>在题库栏目搜索场次即可（十一也可能需要写小写的</a:t>
            </a:r>
            <a:r>
              <a:rPr lang="en-US" altLang="zh-CN" dirty="0"/>
              <a:t>11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C5DE60-FACD-FDB2-526C-6988C71C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41474"/>
            <a:ext cx="6666672" cy="265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7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E420E0A-D3A6-81B4-C6B1-FC7F0920F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06" y="1434204"/>
            <a:ext cx="7935893" cy="5045661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93C2985A-9145-BED3-73AD-B2E667C2D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12" y="108641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3"/>
              </a:rPr>
              <a:t>第</a:t>
            </a:r>
            <a:r>
              <a:rPr lang="en-US" altLang="zh-CN" dirty="0">
                <a:hlinkClick r:id="rId3"/>
              </a:rPr>
              <a:t>11</a:t>
            </a:r>
            <a:r>
              <a:rPr lang="zh-CN" altLang="en-US" dirty="0">
                <a:hlinkClick r:id="rId3"/>
              </a:rPr>
              <a:t>次</a:t>
            </a:r>
            <a:r>
              <a:rPr lang="en-US" altLang="zh-CN" dirty="0">
                <a:hlinkClick r:id="rId3"/>
              </a:rPr>
              <a:t>CCF</a:t>
            </a:r>
            <a:r>
              <a:rPr lang="zh-CN" altLang="en-US" dirty="0">
                <a:hlinkClick r:id="rId3"/>
              </a:rPr>
              <a:t>计算机软件能力认证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20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12B97-CA58-A10E-9E70-AF8F0333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03A650-D6FC-7477-B208-679090AB6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1912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题目可以等价为三种商品，分别是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zh-CN" altLang="en-US" dirty="0">
                <a:latin typeface="Consolas" panose="020B0609020204030204" pitchFamily="49" charset="0"/>
              </a:rPr>
              <a:t>元一瓶、</a:t>
            </a:r>
            <a:r>
              <a:rPr lang="en-US" altLang="zh-CN" dirty="0">
                <a:latin typeface="Consolas" panose="020B0609020204030204" pitchFamily="49" charset="0"/>
              </a:rPr>
              <a:t>30</a:t>
            </a:r>
            <a:r>
              <a:rPr lang="zh-CN" altLang="en-US" dirty="0">
                <a:latin typeface="Consolas" panose="020B0609020204030204" pitchFamily="49" charset="0"/>
              </a:rPr>
              <a:t>元四瓶、</a:t>
            </a:r>
            <a:r>
              <a:rPr lang="en-US" altLang="zh-CN" dirty="0">
                <a:latin typeface="Consolas" panose="020B0609020204030204" pitchFamily="49" charset="0"/>
              </a:rPr>
              <a:t>50</a:t>
            </a:r>
            <a:r>
              <a:rPr lang="zh-CN" altLang="en-US" dirty="0">
                <a:latin typeface="Consolas" panose="020B0609020204030204" pitchFamily="49" charset="0"/>
              </a:rPr>
              <a:t>元七瓶。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假设不买</a:t>
            </a:r>
            <a:r>
              <a:rPr lang="en-US" altLang="zh-CN" dirty="0">
                <a:latin typeface="Consolas" panose="020B0609020204030204" pitchFamily="49" charset="0"/>
              </a:rPr>
              <a:t>50</a:t>
            </a:r>
            <a:r>
              <a:rPr lang="zh-CN" altLang="en-US" dirty="0">
                <a:latin typeface="Consolas" panose="020B0609020204030204" pitchFamily="49" charset="0"/>
              </a:rPr>
              <a:t>元的，改为买一个</a:t>
            </a:r>
            <a:r>
              <a:rPr lang="en-US" altLang="zh-CN" dirty="0">
                <a:latin typeface="Consolas" panose="020B0609020204030204" pitchFamily="49" charset="0"/>
              </a:rPr>
              <a:t>30</a:t>
            </a:r>
            <a:r>
              <a:rPr lang="zh-CN" altLang="en-US" dirty="0">
                <a:latin typeface="Consolas" panose="020B0609020204030204" pitchFamily="49" charset="0"/>
              </a:rPr>
              <a:t>元</a:t>
            </a:r>
            <a:r>
              <a:rPr lang="en-US" altLang="zh-CN" dirty="0">
                <a:latin typeface="Consolas" panose="020B0609020204030204" pitchFamily="49" charset="0"/>
              </a:rPr>
              <a:t>+</a:t>
            </a:r>
            <a:r>
              <a:rPr lang="zh-CN" altLang="en-US" dirty="0">
                <a:latin typeface="Consolas" panose="020B0609020204030204" pitchFamily="49" charset="0"/>
              </a:rPr>
              <a:t>两个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zh-CN" altLang="en-US" dirty="0">
                <a:latin typeface="Consolas" panose="020B0609020204030204" pitchFamily="49" charset="0"/>
              </a:rPr>
              <a:t>元，则只能买到六瓶，并不是最优。同理，买三个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zh-CN" altLang="en-US" dirty="0">
                <a:latin typeface="Consolas" panose="020B0609020204030204" pitchFamily="49" charset="0"/>
              </a:rPr>
              <a:t>元也比买一个</a:t>
            </a:r>
            <a:r>
              <a:rPr lang="en-US" altLang="zh-CN" dirty="0">
                <a:latin typeface="Consolas" panose="020B0609020204030204" pitchFamily="49" charset="0"/>
              </a:rPr>
              <a:t>30</a:t>
            </a:r>
            <a:r>
              <a:rPr lang="zh-CN" altLang="en-US" dirty="0">
                <a:latin typeface="Consolas" panose="020B0609020204030204" pitchFamily="49" charset="0"/>
              </a:rPr>
              <a:t>元更劣。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考虑贪心的思路，在钱够的情况下全买</a:t>
            </a:r>
            <a:r>
              <a:rPr lang="en-US" altLang="zh-CN" dirty="0">
                <a:latin typeface="Consolas" panose="020B0609020204030204" pitchFamily="49" charset="0"/>
              </a:rPr>
              <a:t>50</a:t>
            </a:r>
            <a:r>
              <a:rPr lang="zh-CN" altLang="en-US" dirty="0">
                <a:latin typeface="Consolas" panose="020B0609020204030204" pitchFamily="49" charset="0"/>
              </a:rPr>
              <a:t>元，之后全买</a:t>
            </a:r>
            <a:r>
              <a:rPr lang="en-US" altLang="zh-CN" dirty="0">
                <a:latin typeface="Consolas" panose="020B0609020204030204" pitchFamily="49" charset="0"/>
              </a:rPr>
              <a:t>30</a:t>
            </a:r>
            <a:r>
              <a:rPr lang="zh-CN" altLang="en-US" dirty="0">
                <a:latin typeface="Consolas" panose="020B0609020204030204" pitchFamily="49" charset="0"/>
              </a:rPr>
              <a:t>元，最后用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zh-CN" altLang="en-US" dirty="0">
                <a:latin typeface="Consolas" panose="020B0609020204030204" pitchFamily="49" charset="0"/>
              </a:rPr>
              <a:t>元买即可。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20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A1749-2960-DED5-EC89-49E98DB1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BB5F0-C0B7-7ECD-4FE6-2169FE14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DD5D401-1ADA-1FEA-EF1D-F8D34000B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8365" y="1639172"/>
            <a:ext cx="4786309" cy="465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53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8E674-C610-5D01-17D9-3A1BBBE0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24356-97C4-2D58-4CE7-1F0FDE3A9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13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01C3E7-7893-F4FF-6677-253ECE81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498" y="1010203"/>
            <a:ext cx="8339004" cy="546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04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A4552-2B93-F07C-8D15-A421BC3B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2BD70-0751-FDC8-1912-704BB414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AEBD4A-75D7-9527-EF6B-CB6D1678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296" y="1900099"/>
            <a:ext cx="10515600" cy="4351338"/>
          </a:xfrm>
        </p:spPr>
        <p:txBody>
          <a:bodyPr/>
          <a:lstStyle/>
          <a:p>
            <a:r>
              <a:rPr lang="zh-CN" altLang="en-US" dirty="0">
                <a:latin typeface="Consolas" panose="020B0609020204030204" pitchFamily="49" charset="0"/>
              </a:rPr>
              <a:t>模拟题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只需要记录上一次获得的分数，模拟即可。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本题输入可采用</a:t>
            </a:r>
            <a:r>
              <a:rPr lang="en-US" altLang="zh-CN" dirty="0">
                <a:latin typeface="Consolas" panose="020B0609020204030204" pitchFamily="49" charset="0"/>
              </a:rPr>
              <a:t>while(std::</a:t>
            </a:r>
            <a:r>
              <a:rPr lang="en-US" altLang="zh-CN" dirty="0" err="1">
                <a:latin typeface="Consolas" panose="020B0609020204030204" pitchFamily="49" charset="0"/>
              </a:rPr>
              <a:t>cin</a:t>
            </a:r>
            <a:r>
              <a:rPr lang="en-US" altLang="zh-CN" dirty="0">
                <a:latin typeface="Consolas" panose="020B0609020204030204" pitchFamily="49" charset="0"/>
              </a:rPr>
              <a:t> &gt;&gt; x) {}</a:t>
            </a:r>
            <a:r>
              <a:rPr lang="zh-CN" altLang="en-US" dirty="0">
                <a:latin typeface="Consolas" panose="020B0609020204030204" pitchFamily="49" charset="0"/>
              </a:rPr>
              <a:t>的形式。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364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18DD-988F-5491-D09A-1522FA275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73613-AABA-D397-7837-3791C53E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7136C5-1A9C-1ED9-0EA3-C26A60DD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732" y="365125"/>
            <a:ext cx="4747792" cy="629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5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5C660-5FD6-8AE3-DE8D-A0FE7DD8A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5E056-82AE-5553-9B8B-A659D626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16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022A21-9E06-664A-A252-44775ACA9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56" y="1074430"/>
            <a:ext cx="9628666" cy="568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84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DCD8C-57DA-ED3C-088E-DFBECB3A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6FA2C-838C-3F93-8A10-59C4228A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A0BAD-4204-2F0F-FFE7-72A0786F3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868" y="1207439"/>
            <a:ext cx="10515600" cy="523199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先求最值，注意到题面提到数据有序，因此最大值和最小值只有可能从第一个或者最后一个数字中选出，使用</a:t>
            </a:r>
            <a:r>
              <a:rPr lang="en-US" altLang="zh-CN" dirty="0">
                <a:latin typeface="Consolas" panose="020B0609020204030204" pitchFamily="49" charset="0"/>
              </a:rPr>
              <a:t>std::min()</a:t>
            </a:r>
            <a:r>
              <a:rPr lang="zh-CN" altLang="en-US" dirty="0">
                <a:latin typeface="Consolas" panose="020B0609020204030204" pitchFamily="49" charset="0"/>
              </a:rPr>
              <a:t>、</a:t>
            </a:r>
            <a:r>
              <a:rPr lang="en-US" altLang="zh-CN" dirty="0">
                <a:latin typeface="Consolas" panose="020B0609020204030204" pitchFamily="49" charset="0"/>
              </a:rPr>
              <a:t>std::max()</a:t>
            </a:r>
            <a:r>
              <a:rPr lang="zh-CN" altLang="en-US" dirty="0">
                <a:latin typeface="Consolas" panose="020B0609020204030204" pitchFamily="49" charset="0"/>
              </a:rPr>
              <a:t>可较为方便计算。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接下来考虑中位数：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当有奇数个数字时，中位数即为第</a:t>
            </a:r>
            <a:r>
              <a:rPr lang="en-US" altLang="zh-CN" dirty="0">
                <a:latin typeface="Consolas" panose="020B0609020204030204" pitchFamily="49" charset="0"/>
              </a:rPr>
              <a:t>n/2+1</a:t>
            </a:r>
            <a:r>
              <a:rPr lang="zh-CN" altLang="en-US" dirty="0">
                <a:latin typeface="Consolas" panose="020B0609020204030204" pitchFamily="49" charset="0"/>
              </a:rPr>
              <a:t>个数。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当有偶数给数字时，分类讨论是否需要保留一位小数即可。使用</a:t>
            </a:r>
            <a:r>
              <a:rPr lang="en-US" altLang="zh-CN" dirty="0">
                <a:latin typeface="Consolas" panose="020B0609020204030204" pitchFamily="49" charset="0"/>
              </a:rPr>
              <a:t>std::</a:t>
            </a:r>
            <a:r>
              <a:rPr lang="en-US" altLang="zh-CN" dirty="0" err="1">
                <a:latin typeface="Consolas" panose="020B0609020204030204" pitchFamily="49" charset="0"/>
              </a:rPr>
              <a:t>cout</a:t>
            </a:r>
            <a:r>
              <a:rPr lang="zh-CN" altLang="en-US" dirty="0">
                <a:latin typeface="Consolas" panose="020B0609020204030204" pitchFamily="49" charset="0"/>
              </a:rPr>
              <a:t>输出时，可以使用</a:t>
            </a:r>
            <a:r>
              <a:rPr lang="en-US" altLang="zh-CN" dirty="0">
                <a:latin typeface="Consolas" panose="020B0609020204030204" pitchFamily="49" charset="0"/>
              </a:rPr>
              <a:t>std::</a:t>
            </a:r>
            <a:r>
              <a:rPr lang="en-US" altLang="zh-CN" dirty="0" err="1">
                <a:latin typeface="Consolas" panose="020B0609020204030204" pitchFamily="49" charset="0"/>
              </a:rPr>
              <a:t>setprecision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zh-CN" altLang="en-US" dirty="0">
                <a:latin typeface="Consolas" panose="020B0609020204030204" pitchFamily="49" charset="0"/>
              </a:rPr>
              <a:t>位数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en-US" altLang="zh-CN" dirty="0">
                <a:latin typeface="Consolas" panose="020B0609020204030204" pitchFamily="49" charset="0"/>
              </a:rPr>
              <a:t>std::fixed</a:t>
            </a:r>
            <a:r>
              <a:rPr lang="zh-CN" altLang="en-US" dirty="0">
                <a:latin typeface="Consolas" panose="020B0609020204030204" pitchFamily="49" charset="0"/>
              </a:rPr>
              <a:t>来指定保留位数。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99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8B5F2-3552-0FC3-8A88-E30AE336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F7FA0-5C45-AC7D-57CF-1228F6015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9EFF63-E2E2-679A-EDE1-BF07E266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52" y="1902998"/>
            <a:ext cx="10824895" cy="425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689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3A657-E178-66CA-EA07-C4BCFF9ED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D0A1D-07EB-3228-7C6F-35B384E2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>
                <a:hlinkClick r:id="rId2"/>
              </a:rPr>
              <a:t>19</a:t>
            </a:r>
            <a:r>
              <a:rPr lang="zh-CN" altLang="en-US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365D046-8608-8547-9B70-E5EF3C766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965260"/>
            <a:ext cx="9291035" cy="50304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3EF6DA0-C8CE-BE66-1D26-D5257402E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6042714"/>
            <a:ext cx="5176293" cy="5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71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00F86-6DEA-42F5-CF62-F74DC4B0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B3A61-4D41-0CFC-E412-DBCAB7C7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EECD3-DDFA-B9FB-7215-03014F8CF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868" y="1477896"/>
            <a:ext cx="10515600" cy="52319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一个定理：给定两个点</a:t>
            </a:r>
            <a:r>
              <a:rPr lang="en-US" altLang="zh-CN" dirty="0">
                <a:latin typeface="Consolas" panose="020B0609020204030204" pitchFamily="49" charset="0"/>
              </a:rPr>
              <a:t>(x1, y1), (x2, y2)</a:t>
            </a:r>
            <a:r>
              <a:rPr lang="zh-CN" altLang="en-US" dirty="0">
                <a:latin typeface="Consolas" panose="020B0609020204030204" pitchFamily="49" charset="0"/>
              </a:rPr>
              <a:t>，分别带入直线方程后得到两个值</a:t>
            </a:r>
            <a:r>
              <a:rPr lang="en-US" altLang="zh-CN" dirty="0">
                <a:latin typeface="Consolas" panose="020B0609020204030204" pitchFamily="49" charset="0"/>
              </a:rPr>
              <a:t>v1, v2</a:t>
            </a:r>
            <a:r>
              <a:rPr lang="zh-CN" altLang="en-US" dirty="0">
                <a:latin typeface="Consolas" panose="020B0609020204030204" pitchFamily="49" charset="0"/>
              </a:rPr>
              <a:t>，若</a:t>
            </a:r>
            <a:r>
              <a:rPr lang="en-US" altLang="zh-CN" dirty="0">
                <a:latin typeface="Consolas" panose="020B0609020204030204" pitchFamily="49" charset="0"/>
              </a:rPr>
              <a:t>v1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en-US" altLang="zh-CN" dirty="0">
                <a:latin typeface="Consolas" panose="020B0609020204030204" pitchFamily="49" charset="0"/>
              </a:rPr>
              <a:t>v2</a:t>
            </a:r>
            <a:r>
              <a:rPr lang="zh-CN" altLang="en-US" dirty="0">
                <a:latin typeface="Consolas" panose="020B0609020204030204" pitchFamily="49" charset="0"/>
              </a:rPr>
              <a:t>符号相同，则两点在直线同侧，反之则在异侧。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对于所有</a:t>
            </a:r>
            <a:r>
              <a:rPr lang="en-US" altLang="zh-CN" dirty="0">
                <a:latin typeface="Consolas" panose="020B0609020204030204" pitchFamily="49" charset="0"/>
              </a:rPr>
              <a:t>A</a:t>
            </a:r>
            <a:r>
              <a:rPr lang="zh-CN" altLang="en-US" dirty="0">
                <a:latin typeface="Consolas" panose="020B0609020204030204" pitchFamily="49" charset="0"/>
              </a:rPr>
              <a:t>类点，计算是否在同侧，再对于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类点做同样判断。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最后判断</a:t>
            </a:r>
            <a:r>
              <a:rPr lang="en-US" altLang="zh-CN" dirty="0">
                <a:latin typeface="Consolas" panose="020B0609020204030204" pitchFamily="49" charset="0"/>
              </a:rPr>
              <a:t>A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是否都在直线同一侧即可。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精度问题：本题最高数值可达</a:t>
            </a:r>
            <a:r>
              <a:rPr lang="en-US" altLang="zh-CN" dirty="0">
                <a:latin typeface="Consolas" panose="020B0609020204030204" pitchFamily="49" charset="0"/>
              </a:rPr>
              <a:t>10^12</a:t>
            </a:r>
            <a:r>
              <a:rPr lang="zh-CN" altLang="en-US" dirty="0">
                <a:latin typeface="Consolas" panose="020B0609020204030204" pitchFamily="49" charset="0"/>
              </a:rPr>
              <a:t>级别，需要使用</a:t>
            </a:r>
            <a:r>
              <a:rPr lang="en-US" altLang="zh-CN" dirty="0">
                <a:latin typeface="Consolas" panose="020B0609020204030204" pitchFamily="49" charset="0"/>
              </a:rPr>
              <a:t>long </a:t>
            </a:r>
            <a:r>
              <a:rPr lang="en-US" altLang="zh-CN" dirty="0" err="1">
                <a:latin typeface="Consolas" panose="020B0609020204030204" pitchFamily="49" charset="0"/>
              </a:rPr>
              <a:t>long</a:t>
            </a:r>
            <a:r>
              <a:rPr lang="zh-CN" altLang="en-US" dirty="0">
                <a:latin typeface="Consolas" panose="020B0609020204030204" pitchFamily="49" charset="0"/>
              </a:rPr>
              <a:t>类型。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573AA4-F9F8-5EB4-912E-25F53B8BB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05" y="5888167"/>
            <a:ext cx="5176293" cy="55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88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B707-4D3D-1E3A-1F18-9F5163646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E3470-152F-370B-A43A-835FA20CC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11" y="152333"/>
            <a:ext cx="10515600" cy="1325563"/>
          </a:xfrm>
        </p:spPr>
        <p:txBody>
          <a:bodyPr/>
          <a:lstStyle/>
          <a:p>
            <a:r>
              <a:rPr lang="zh-CN" altLang="en-US" dirty="0"/>
              <a:t>特殊的输入处理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682112D-AD7C-9489-1671-201743BF6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89" y="1269685"/>
            <a:ext cx="8654369" cy="2579982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B7A33168-712E-6831-F7E3-836517407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384" y="4242001"/>
            <a:ext cx="10515600" cy="52319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本题输入格式较为特殊，需要进行特殊处理，具体方式来看看代码。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415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9905-5DFC-2F94-DDBA-AB332776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7F5E8-4B21-E362-6263-11FC3547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5D6CF7-D8BD-22C5-8544-D26F95A2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0" y="1558128"/>
            <a:ext cx="5410342" cy="47462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FAD61D-7B1E-B7D8-E828-1B21ACD35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479" y="484337"/>
            <a:ext cx="5372241" cy="588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62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0FA91-57F9-40AF-BC61-C09ADD69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36EF12-D0B2-F902-F34E-971F739A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20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9D6C5F-FCD7-7F39-20F9-8B1C5A970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7" y="1598116"/>
            <a:ext cx="10533886" cy="44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865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EC59-E72F-0FC9-E76E-81DD0352F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9DDE9-BBAB-647E-9553-9125F1EC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03EEB9-F852-3F8C-0A56-656B57A24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183" y="1207438"/>
            <a:ext cx="11023241" cy="52319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可使用</a:t>
            </a:r>
            <a:r>
              <a:rPr lang="en-US" altLang="zh-CN" dirty="0">
                <a:latin typeface="Consolas" panose="020B0609020204030204" pitchFamily="49" charset="0"/>
              </a:rPr>
              <a:t>std::sort</a:t>
            </a:r>
            <a:r>
              <a:rPr lang="zh-CN" altLang="en-US" dirty="0">
                <a:latin typeface="Consolas" panose="020B0609020204030204" pitchFamily="49" charset="0"/>
              </a:rPr>
              <a:t>进行排序，取前三即可。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关于排序规则：</a:t>
            </a:r>
            <a:r>
              <a:rPr lang="en-US" altLang="zh-CN" dirty="0">
                <a:latin typeface="Consolas" panose="020B0609020204030204" pitchFamily="49" charset="0"/>
              </a:rPr>
              <a:t>std::sort</a:t>
            </a:r>
            <a:r>
              <a:rPr lang="zh-CN" altLang="en-US" dirty="0">
                <a:latin typeface="Consolas" panose="020B0609020204030204" pitchFamily="49" charset="0"/>
              </a:rPr>
              <a:t>默认以逐关键字、升序来排序，若想改变排序规则，则需要自行定义排序方法。下面给出一个常用写法：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Consolas" panose="020B0609020204030204" pitchFamily="49" charset="0"/>
              </a:rPr>
              <a:t>p1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en-US" altLang="zh-CN" dirty="0">
                <a:latin typeface="Consolas" panose="020B0609020204030204" pitchFamily="49" charset="0"/>
              </a:rPr>
              <a:t>p2</a:t>
            </a:r>
            <a:r>
              <a:rPr lang="zh-CN" altLang="en-US" dirty="0">
                <a:latin typeface="Consolas" panose="020B0609020204030204" pitchFamily="49" charset="0"/>
              </a:rPr>
              <a:t>为两个元素，返回值为</a:t>
            </a:r>
            <a:r>
              <a:rPr lang="en-US" altLang="zh-CN" dirty="0">
                <a:latin typeface="Consolas" panose="020B0609020204030204" pitchFamily="49" charset="0"/>
              </a:rPr>
              <a:t>true</a:t>
            </a:r>
            <a:r>
              <a:rPr lang="zh-CN" altLang="en-US" dirty="0">
                <a:latin typeface="Consolas" panose="020B0609020204030204" pitchFamily="49" charset="0"/>
              </a:rPr>
              <a:t>则不改变元素顺序，反之则改变。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1B1C49-D7F9-DACA-ABB7-9628EAB5D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579" y="3429000"/>
            <a:ext cx="7566129" cy="15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83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557E-408D-72DE-E882-00CE7D2BC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FC3D28-CC01-E7A1-8F21-4256AFCB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B75F2D-8643-4F88-FF4E-D2CE9C2F7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48" y="1290749"/>
            <a:ext cx="7192304" cy="520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8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6D246-6754-0C6B-0DA5-ED5EFF23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66808-38F9-30C1-4EE4-392011EC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23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1804AF-892A-69B9-6F4F-6D11D6194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73" y="1221703"/>
            <a:ext cx="10665854" cy="51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407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CD3C7-DA20-5E5F-1F28-34D6FCDF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00788-4CCE-BB5D-E9B2-82D3C200C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9E51BA-414D-D55C-DF82-AD695781C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9" y="1325563"/>
            <a:ext cx="11023241" cy="52319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本题可分为求最大和最小两部分，分开来看。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对于最大值：每一个位置都填入当前能填入的最大值即可。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对于最小值：对于某一个位置，若</a:t>
            </a:r>
            <a:r>
              <a:rPr lang="en-US" altLang="zh-CN" dirty="0">
                <a:latin typeface="Consolas" panose="020B0609020204030204" pitchFamily="49" charset="0"/>
              </a:rPr>
              <a:t>B</a:t>
            </a:r>
            <a:r>
              <a:rPr lang="zh-CN" altLang="en-US" dirty="0">
                <a:latin typeface="Consolas" panose="020B0609020204030204" pitchFamily="49" charset="0"/>
              </a:rPr>
              <a:t>数组中的值在这里改变了，则说明这里出现了一个新的最大值，那么这里必须填入新的值，否则，填入</a:t>
            </a:r>
            <a:r>
              <a:rPr lang="en-US" altLang="zh-CN" dirty="0">
                <a:latin typeface="Consolas" panose="020B0609020204030204" pitchFamily="49" charset="0"/>
              </a:rPr>
              <a:t>0</a:t>
            </a:r>
            <a:r>
              <a:rPr lang="zh-CN" altLang="en-US" dirty="0">
                <a:latin typeface="Consolas" panose="020B0609020204030204" pitchFamily="49" charset="0"/>
              </a:rPr>
              <a:t>即可。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703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3978D-B9F6-9042-E3F0-75963029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7D13E-6B25-D99D-E703-03BD26F9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12B532-E05E-3E80-018C-DAE62387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730" y="783264"/>
            <a:ext cx="5932648" cy="566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692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50C5-EC13-CFF3-9879-67166CF88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33FF7-261F-ED93-EE4E-AAA47B9E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24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F49C-6E64-D8DF-D8CD-4BB65C472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82" y="981538"/>
            <a:ext cx="9006235" cy="56961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750E089-14F7-5C33-A33A-35D1443DC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538" y="4660688"/>
            <a:ext cx="3054956" cy="1144087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19780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C7ECB-9CCF-BD68-D20E-106F6C8A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2648F-E612-1BEF-DBE9-86B2B198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3B288-6624-AFAF-6CCC-51403D3C3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9" y="1325563"/>
            <a:ext cx="11023241" cy="52319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如果时间限制充足，可以考虑使用二分查找。小于等于</a:t>
            </a:r>
            <a:r>
              <a:rPr lang="en-US" altLang="zh-CN" dirty="0">
                <a:latin typeface="Consolas" panose="020B0609020204030204" pitchFamily="49" charset="0"/>
              </a:rPr>
              <a:t>x</a:t>
            </a:r>
            <a:r>
              <a:rPr lang="zh-CN" altLang="en-US" dirty="0">
                <a:latin typeface="Consolas" panose="020B0609020204030204" pitchFamily="49" charset="0"/>
              </a:rPr>
              <a:t>的整数里最大的数的下标可以看作是大于</a:t>
            </a:r>
            <a:r>
              <a:rPr lang="en-US" altLang="zh-CN" dirty="0">
                <a:latin typeface="Consolas" panose="020B0609020204030204" pitchFamily="49" charset="0"/>
              </a:rPr>
              <a:t>x</a:t>
            </a:r>
            <a:r>
              <a:rPr lang="zh-CN" altLang="en-US" dirty="0">
                <a:latin typeface="Consolas" panose="020B0609020204030204" pitchFamily="49" charset="0"/>
              </a:rPr>
              <a:t>的整数里最小的数的下标</a:t>
            </a:r>
            <a:r>
              <a:rPr lang="en-US" altLang="zh-CN" dirty="0">
                <a:latin typeface="Consolas" panose="020B0609020204030204" pitchFamily="49" charset="0"/>
              </a:rPr>
              <a:t>-1</a:t>
            </a:r>
            <a:r>
              <a:rPr lang="zh-CN" altLang="en-US" dirty="0">
                <a:latin typeface="Consolas" panose="020B0609020204030204" pitchFamily="49" charset="0"/>
              </a:rPr>
              <a:t>，使用</a:t>
            </a:r>
            <a:r>
              <a:rPr lang="en-US" altLang="zh-CN" dirty="0" err="1">
                <a:latin typeface="Consolas" panose="020B0609020204030204" pitchFamily="49" charset="0"/>
              </a:rPr>
              <a:t>stl</a:t>
            </a:r>
            <a:r>
              <a:rPr lang="zh-CN" altLang="en-US" dirty="0">
                <a:latin typeface="Consolas" panose="020B0609020204030204" pitchFamily="49" charset="0"/>
              </a:rPr>
              <a:t>中的</a:t>
            </a:r>
            <a:r>
              <a:rPr lang="en-US" altLang="zh-CN" dirty="0">
                <a:latin typeface="Consolas" panose="020B0609020204030204" pitchFamily="49" charset="0"/>
              </a:rPr>
              <a:t>std::</a:t>
            </a:r>
            <a:r>
              <a:rPr lang="en-US" altLang="zh-CN" dirty="0" err="1">
                <a:latin typeface="Consolas" panose="020B0609020204030204" pitchFamily="49" charset="0"/>
              </a:rPr>
              <a:t>upper_bound</a:t>
            </a:r>
            <a:r>
              <a:rPr lang="en-US" altLang="zh-CN" dirty="0">
                <a:latin typeface="Consolas" panose="020B0609020204030204" pitchFamily="49" charset="0"/>
              </a:rPr>
              <a:t>()</a:t>
            </a:r>
            <a:r>
              <a:rPr lang="zh-CN" altLang="en-US" dirty="0">
                <a:latin typeface="Consolas" panose="020B0609020204030204" pitchFamily="49" charset="0"/>
              </a:rPr>
              <a:t>可以简单做到。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本题时间限制较紧，以上方法还不足以通过本题。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观察发现，</a:t>
            </a:r>
            <a:r>
              <a:rPr lang="en-US" altLang="zh-CN" dirty="0">
                <a:latin typeface="Consolas" panose="020B0609020204030204" pitchFamily="49" charset="0"/>
              </a:rPr>
              <a:t>f(x)</a:t>
            </a:r>
            <a:r>
              <a:rPr lang="zh-CN" altLang="en-US" dirty="0">
                <a:latin typeface="Consolas" panose="020B0609020204030204" pitchFamily="49" charset="0"/>
              </a:rPr>
              <a:t>在一段连续的区间内是相同的，那么对于相同的一段，我们可以合并计算，以优化效率。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46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E4B0-6038-7CCD-DC22-A00D52D4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AB373-13F6-BF6F-B145-175C405EE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5B0092-2CA8-E096-19C0-D95C2EFF8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79" y="1447912"/>
            <a:ext cx="11023241" cy="52319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对于一段</a:t>
            </a:r>
            <a:r>
              <a:rPr lang="en-US" altLang="zh-CN" dirty="0">
                <a:latin typeface="Consolas" panose="020B0609020204030204" pitchFamily="49" charset="0"/>
              </a:rPr>
              <a:t>f(x)</a:t>
            </a:r>
            <a:r>
              <a:rPr lang="zh-CN" altLang="en-US" dirty="0">
                <a:latin typeface="Consolas" panose="020B0609020204030204" pitchFamily="49" charset="0"/>
              </a:rPr>
              <a:t>相同的区间</a:t>
            </a:r>
            <a:r>
              <a:rPr lang="en-US" altLang="zh-CN" dirty="0">
                <a:latin typeface="Consolas" panose="020B0609020204030204" pitchFamily="49" charset="0"/>
              </a:rPr>
              <a:t>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, j)</a:t>
            </a:r>
            <a:r>
              <a:rPr lang="zh-CN" altLang="en-US" dirty="0">
                <a:latin typeface="Consolas" panose="020B0609020204030204" pitchFamily="49" charset="0"/>
              </a:rPr>
              <a:t>，我们可以通过</a:t>
            </a:r>
            <a:r>
              <a:rPr lang="en-US" altLang="zh-CN" dirty="0">
                <a:latin typeface="Consolas" panose="020B0609020204030204" pitchFamily="49" charset="0"/>
              </a:rPr>
              <a:t>f(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)*(j-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)</a:t>
            </a:r>
            <a:r>
              <a:rPr lang="zh-CN" altLang="en-US" dirty="0">
                <a:latin typeface="Consolas" panose="020B0609020204030204" pitchFamily="49" charset="0"/>
              </a:rPr>
              <a:t>来很快地计算。</a:t>
            </a:r>
            <a:endParaRPr lang="en-US" altLang="zh-CN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因此，我们每次不再让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++</a:t>
            </a:r>
            <a:r>
              <a:rPr lang="zh-CN" altLang="en-US" dirty="0">
                <a:latin typeface="Consolas" panose="020B0609020204030204" pitchFamily="49" charset="0"/>
              </a:rPr>
              <a:t>，而是让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zh-CN" altLang="en-US" dirty="0">
                <a:latin typeface="Consolas" panose="020B0609020204030204" pitchFamily="49" charset="0"/>
              </a:rPr>
              <a:t>直接跳跃到下一个</a:t>
            </a:r>
            <a:r>
              <a:rPr lang="en-US" altLang="zh-CN" dirty="0">
                <a:latin typeface="Consolas" panose="020B0609020204030204" pitchFamily="49" charset="0"/>
              </a:rPr>
              <a:t>f(x)</a:t>
            </a:r>
            <a:r>
              <a:rPr lang="zh-CN" altLang="en-US" dirty="0">
                <a:latin typeface="Consolas" panose="020B0609020204030204" pitchFamily="49" charset="0"/>
              </a:rPr>
              <a:t>变化的位置，然后对一段相同区间进行统一处理。这样的方法可以通过此题。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902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5900-A130-9ADE-E823-4FD54806F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29A4B-F00D-FDBD-A407-FA4CE929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CABC5C-CBA8-7683-56F8-DD34C9FB5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76" y="259578"/>
            <a:ext cx="6642349" cy="646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52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819C7-C860-06B6-9E61-A10C1ED8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9F107-A136-8751-0B50-A2A27824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22" y="-103860"/>
            <a:ext cx="10515600" cy="1325563"/>
          </a:xfrm>
        </p:spPr>
        <p:txBody>
          <a:bodyPr/>
          <a:lstStyle/>
          <a:p>
            <a:r>
              <a:rPr lang="zh-CN" altLang="en-US" dirty="0">
                <a:hlinkClick r:id="rId2"/>
              </a:rPr>
              <a:t>第</a:t>
            </a:r>
            <a:r>
              <a:rPr lang="en-US" altLang="zh-CN" dirty="0">
                <a:hlinkClick r:id="rId2"/>
              </a:rPr>
              <a:t>27</a:t>
            </a:r>
            <a:r>
              <a:rPr lang="zh-CN" altLang="en-US" dirty="0">
                <a:hlinkClick r:id="rId2"/>
              </a:rPr>
              <a:t>次</a:t>
            </a:r>
            <a:r>
              <a:rPr lang="en-US" altLang="zh-CN" dirty="0">
                <a:hlinkClick r:id="rId2"/>
              </a:rPr>
              <a:t>CCF</a:t>
            </a:r>
            <a:r>
              <a:rPr lang="zh-CN" altLang="en-US" dirty="0">
                <a:hlinkClick r:id="rId2"/>
              </a:rPr>
              <a:t>计算机软件能力认证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1038F2-9672-54AC-46D4-DDE1CC439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15" y="1086466"/>
            <a:ext cx="9022169" cy="5771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7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96475-EB91-25A9-760F-5FAC8DFF8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6E43D-5767-D5C0-6135-241915DF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" y="0"/>
            <a:ext cx="10515600" cy="1325563"/>
          </a:xfrm>
        </p:spPr>
        <p:txBody>
          <a:bodyPr/>
          <a:lstStyle/>
          <a:p>
            <a:r>
              <a:rPr lang="zh-CN" altLang="en-US" dirty="0"/>
              <a:t>解题思路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0DC0FC-1492-7FE0-DF35-C7C9C8DB3A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4379" y="2206323"/>
                <a:ext cx="11023241" cy="244535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Consolas" panose="020B0609020204030204" pitchFamily="49" charset="0"/>
                  </a:rPr>
                  <a:t>考虑一个</a:t>
                </a:r>
                <a:r>
                  <a:rPr lang="en-US" altLang="zh-CN" dirty="0">
                    <a:latin typeface="Consolas" panose="020B0609020204030204" pitchFamily="49" charset="0"/>
                  </a:rPr>
                  <a:t>k</a:t>
                </a:r>
                <a:r>
                  <a:rPr lang="zh-CN" altLang="en-US" dirty="0">
                    <a:latin typeface="Consolas" panose="020B0609020204030204" pitchFamily="49" charset="0"/>
                  </a:rPr>
                  <a:t>进制数字</a:t>
                </a:r>
                <a:r>
                  <a:rPr lang="en-US" altLang="zh-CN" dirty="0">
                    <a:latin typeface="Consolas" panose="020B0609020204030204" pitchFamily="49" charset="0"/>
                  </a:rPr>
                  <a:t>x</a:t>
                </a:r>
                <a:r>
                  <a:rPr lang="zh-CN" altLang="en-US" dirty="0">
                    <a:latin typeface="Consolas" panose="020B0609020204030204" pitchFamily="49" charset="0"/>
                  </a:rPr>
                  <a:t>，我们可以将它拆分为如下形式：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>
                  <a:latin typeface="Consolas" panose="020B0609020204030204" pitchFamily="49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Consolas" panose="020B0609020204030204" pitchFamily="49" charset="0"/>
                  </a:rPr>
                  <a:t>发现和本题非常相似，因此可将本题看作是一个混合进制数，对其应用基本的按位拆分即可。</a:t>
                </a:r>
                <a:endParaRPr lang="en-US" altLang="zh-CN" dirty="0">
                  <a:latin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0DC0FC-1492-7FE0-DF35-C7C9C8DB3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4379" y="2206323"/>
                <a:ext cx="11023241" cy="2445354"/>
              </a:xfrm>
              <a:blipFill>
                <a:blip r:embed="rId2"/>
                <a:stretch>
                  <a:fillRect l="-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906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B80E-659E-00AA-99FD-115A41E6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B379F-EBBD-CDA2-BD48-402288F25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3E7DA6-F0EF-F19E-9F5D-20FB74086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02" y="1464207"/>
            <a:ext cx="7024534" cy="437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44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20FBF-47F1-7DA5-025B-534CD9A0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25FE1-9B6D-F93D-8327-E9F7DB34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CSP</a:t>
            </a:r>
            <a:r>
              <a:rPr lang="zh-CN" altLang="en-US" dirty="0"/>
              <a:t>认证考试的第一题主要以语法题、模拟题为主，题目思维难度低，涉及少量的算法知识。</a:t>
            </a:r>
            <a:endParaRPr lang="en-US" altLang="zh-CN" dirty="0"/>
          </a:p>
          <a:p>
            <a:r>
              <a:rPr lang="zh-CN" altLang="en-US" dirty="0"/>
              <a:t>仅仅利用</a:t>
            </a:r>
            <a:r>
              <a:rPr lang="en-US" altLang="zh-CN" dirty="0"/>
              <a:t>C</a:t>
            </a:r>
            <a:r>
              <a:rPr lang="zh-CN" altLang="en-US" dirty="0"/>
              <a:t>语言课程、数据结构课程所学的知识能够解决大部分题目。</a:t>
            </a:r>
            <a:endParaRPr lang="en-US" altLang="zh-CN" dirty="0"/>
          </a:p>
          <a:p>
            <a:r>
              <a:rPr lang="zh-CN" altLang="en-US" dirty="0"/>
              <a:t>不过，建议练习时候试着用用</a:t>
            </a:r>
            <a:r>
              <a:rPr lang="en-US" altLang="zh-CN" dirty="0"/>
              <a:t>C++</a:t>
            </a:r>
            <a:r>
              <a:rPr lang="zh-CN" altLang="en-US" dirty="0"/>
              <a:t>中的</a:t>
            </a:r>
            <a:r>
              <a:rPr lang="en-US" altLang="zh-CN" dirty="0"/>
              <a:t>STL</a:t>
            </a:r>
            <a:r>
              <a:rPr lang="zh-CN" altLang="en-US" dirty="0"/>
              <a:t>。熟练掌握</a:t>
            </a:r>
            <a:r>
              <a:rPr lang="en-US" altLang="zh-CN" dirty="0"/>
              <a:t>STL</a:t>
            </a:r>
            <a:r>
              <a:rPr lang="zh-CN" altLang="en-US" dirty="0"/>
              <a:t>对解决</a:t>
            </a:r>
            <a:r>
              <a:rPr lang="en-US" altLang="zh-CN" dirty="0"/>
              <a:t>CSP</a:t>
            </a:r>
            <a:r>
              <a:rPr lang="zh-CN" altLang="en-US" dirty="0"/>
              <a:t>认证考试的第二、三题至关重要。</a:t>
            </a:r>
          </a:p>
        </p:txBody>
      </p:sp>
    </p:spTree>
    <p:extLst>
      <p:ext uri="{BB962C8B-B14F-4D97-AF65-F5344CB8AC3E}">
        <p14:creationId xmlns:p14="http://schemas.microsoft.com/office/powerpoint/2010/main" val="1328464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1337</Words>
  <Application>Microsoft Office PowerPoint</Application>
  <PresentationFormat>宽屏</PresentationFormat>
  <Paragraphs>64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Arial</vt:lpstr>
      <vt:lpstr>Cambria Math</vt:lpstr>
      <vt:lpstr>Consolas</vt:lpstr>
      <vt:lpstr>Office 主题​​</vt:lpstr>
      <vt:lpstr>CSP第一题选讲</vt:lpstr>
      <vt:lpstr>前言</vt:lpstr>
      <vt:lpstr>第11次CCF计算机软件能力认证</vt:lpstr>
      <vt:lpstr>解题思路</vt:lpstr>
      <vt:lpstr>代码</vt:lpstr>
      <vt:lpstr>第13次CCF计算机软件能力认证</vt:lpstr>
      <vt:lpstr>解题思路</vt:lpstr>
      <vt:lpstr>代码</vt:lpstr>
      <vt:lpstr>第16次CCF计算机软件能力认证</vt:lpstr>
      <vt:lpstr>解题思路</vt:lpstr>
      <vt:lpstr>代码</vt:lpstr>
      <vt:lpstr>第19次CCF计算机软件能力认证</vt:lpstr>
      <vt:lpstr>解题思路</vt:lpstr>
      <vt:lpstr>特殊的输入处理</vt:lpstr>
      <vt:lpstr>代码</vt:lpstr>
      <vt:lpstr>第20次CCF计算机软件能力认证</vt:lpstr>
      <vt:lpstr>解题思路</vt:lpstr>
      <vt:lpstr>代码</vt:lpstr>
      <vt:lpstr>第23次CCF计算机软件能力认证</vt:lpstr>
      <vt:lpstr>解题思路</vt:lpstr>
      <vt:lpstr>代码</vt:lpstr>
      <vt:lpstr>第24次CCF计算机软件能力认证</vt:lpstr>
      <vt:lpstr>解题思路</vt:lpstr>
      <vt:lpstr>解题思路</vt:lpstr>
      <vt:lpstr>代码</vt:lpstr>
      <vt:lpstr>第27次CCF计算机软件能力认证</vt:lpstr>
      <vt:lpstr>解题思路</vt:lpstr>
      <vt:lpstr>代码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弘毅 阮</dc:creator>
  <cp:lastModifiedBy>yy y</cp:lastModifiedBy>
  <cp:revision>37</cp:revision>
  <dcterms:created xsi:type="dcterms:W3CDTF">2025-08-27T04:27:25Z</dcterms:created>
  <dcterms:modified xsi:type="dcterms:W3CDTF">2025-09-03T12:10:13Z</dcterms:modified>
</cp:coreProperties>
</file>