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70" r:id="rId8"/>
    <p:sldId id="263" r:id="rId9"/>
    <p:sldId id="262" r:id="rId10"/>
    <p:sldId id="264" r:id="rId11"/>
    <p:sldId id="265" r:id="rId12"/>
    <p:sldId id="266" r:id="rId13"/>
    <p:sldId id="267" r:id="rId14"/>
    <p:sldId id="268"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2" d="100"/>
          <a:sy n="92" d="100"/>
        </p:scale>
        <p:origin x="207" y="57"/>
      </p:cViewPr>
      <p:guideLst>
        <p:guide orient="horz" pos="2195"/>
        <p:guide pos="384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2025/11/19</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2025/11/19</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2025/11/19</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2025/11/19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2025/11/19</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2025/11/19</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2025/11/19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2025/11/19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2025/11/19</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80" y="1478915"/>
            <a:ext cx="9799320" cy="563245"/>
          </a:xfrm>
        </p:spPr>
        <p:txBody>
          <a:bodyPr/>
          <a:lstStyle/>
          <a:p>
            <a:r>
              <a:rPr lang="zh-CN" altLang="en-US" sz="2400" b="1" spc="200" dirty="0">
                <a:solidFill>
                  <a:schemeClr val="accent5">
                    <a:lumMod val="75000"/>
                  </a:schemeClr>
                </a:solidFill>
                <a:latin typeface="+mn-lt"/>
                <a:ea typeface="+mn-ea"/>
                <a:cs typeface="+mn-cs"/>
              </a:rPr>
              <a:t>萌新培训之</a:t>
            </a:r>
          </a:p>
        </p:txBody>
      </p:sp>
      <p:sp>
        <p:nvSpPr>
          <p:cNvPr id="3" name="副标题 2"/>
          <p:cNvSpPr>
            <a:spLocks noGrp="1"/>
          </p:cNvSpPr>
          <p:nvPr>
            <p:ph type="subTitle" idx="1"/>
            <p:custDataLst>
              <p:tags r:id="rId3"/>
            </p:custDataLst>
          </p:nvPr>
        </p:nvSpPr>
        <p:spPr>
          <a:xfrm>
            <a:off x="1198800" y="2101170"/>
            <a:ext cx="9799200" cy="1472400"/>
          </a:xfrm>
        </p:spPr>
        <p:txBody>
          <a:bodyPr/>
          <a:lstStyle/>
          <a:p>
            <a:r>
              <a:rPr lang="zh-CN" altLang="zh-CN" sz="6000" b="1" spc="300" dirty="0">
                <a:solidFill>
                  <a:schemeClr val="accent5">
                    <a:lumMod val="75000"/>
                  </a:schemeClr>
                </a:solidFill>
                <a:latin typeface="+mj-lt"/>
                <a:ea typeface="+mj-ea"/>
                <a:cs typeface="+mj-cs"/>
              </a:rPr>
              <a:t>图论入门</a:t>
            </a:r>
          </a:p>
        </p:txBody>
      </p:sp>
      <p:sp>
        <p:nvSpPr>
          <p:cNvPr id="4" name="文本框 3"/>
          <p:cNvSpPr txBox="1"/>
          <p:nvPr/>
        </p:nvSpPr>
        <p:spPr>
          <a:xfrm>
            <a:off x="4493895" y="3323590"/>
            <a:ext cx="3209290" cy="1337945"/>
          </a:xfrm>
          <a:prstGeom prst="rect">
            <a:avLst/>
          </a:prstGeom>
          <a:noFill/>
        </p:spPr>
        <p:txBody>
          <a:bodyPr wrap="square" rtlCol="0">
            <a:spAutoFit/>
          </a:bodyPr>
          <a:lstStyle/>
          <a:p>
            <a:pPr indent="0" algn="ctr" fontAlgn="auto">
              <a:lnSpc>
                <a:spcPct val="150000"/>
              </a:lnSpc>
            </a:pPr>
            <a:r>
              <a:rPr lang="en-US" altLang="zh-CN" b="1" dirty="0">
                <a:solidFill>
                  <a:srgbClr val="7030A0"/>
                </a:solidFill>
              </a:rPr>
              <a:t>by __Watcher</a:t>
            </a:r>
          </a:p>
          <a:p>
            <a:pPr indent="0" algn="ctr" fontAlgn="auto">
              <a:lnSpc>
                <a:spcPct val="150000"/>
              </a:lnSpc>
            </a:pPr>
            <a:r>
              <a:rPr lang="zh-CN" altLang="en-US" b="1" dirty="0">
                <a:solidFill>
                  <a:srgbClr val="7030A0"/>
                </a:solidFill>
              </a:rPr>
              <a:t>喵喵喵</a:t>
            </a:r>
            <a:endParaRPr lang="en-US" altLang="zh-CN" b="1" dirty="0">
              <a:solidFill>
                <a:srgbClr val="7030A0"/>
              </a:solidFill>
            </a:endParaRPr>
          </a:p>
          <a:p>
            <a:pPr indent="0" algn="ctr" fontAlgn="auto">
              <a:lnSpc>
                <a:spcPct val="150000"/>
              </a:lnSpc>
            </a:pPr>
            <a:r>
              <a:rPr lang="en-US" altLang="zh-CN" b="1" dirty="0">
                <a:solidFill>
                  <a:srgbClr val="7030A0"/>
                </a:solidFill>
              </a:rPr>
              <a:t>2025.11.19</a:t>
            </a:r>
          </a:p>
        </p:txBody>
      </p:sp>
      <p:pic>
        <p:nvPicPr>
          <p:cNvPr id="5" name="图片 4" descr="qrcode_1763306680867"/>
          <p:cNvPicPr>
            <a:picLocks noChangeAspect="1"/>
          </p:cNvPicPr>
          <p:nvPr/>
        </p:nvPicPr>
        <p:blipFill>
          <a:blip r:embed="rId5"/>
          <a:srcRect t="14452" b="18015"/>
          <a:stretch>
            <a:fillRect/>
          </a:stretch>
        </p:blipFill>
        <p:spPr>
          <a:xfrm>
            <a:off x="323215" y="4194175"/>
            <a:ext cx="1991360" cy="2388235"/>
          </a:xfrm>
          <a:prstGeom prst="rect">
            <a:avLst/>
          </a:prstGeom>
        </p:spPr>
      </p:pic>
      <p:sp>
        <p:nvSpPr>
          <p:cNvPr id="6" name="文本框 5"/>
          <p:cNvSpPr txBox="1"/>
          <p:nvPr/>
        </p:nvSpPr>
        <p:spPr>
          <a:xfrm>
            <a:off x="187960" y="3726180"/>
            <a:ext cx="1735455" cy="368300"/>
          </a:xfrm>
          <a:prstGeom prst="rect">
            <a:avLst/>
          </a:prstGeom>
          <a:noFill/>
        </p:spPr>
        <p:txBody>
          <a:bodyPr wrap="square" rtlCol="0">
            <a:spAutoFit/>
          </a:bodyPr>
          <a:lstStyle/>
          <a:p>
            <a:r>
              <a:rPr lang="zh-CN" altLang="en-US" spc="200">
                <a:solidFill>
                  <a:schemeClr val="tx1">
                    <a:lumMod val="65000"/>
                    <a:lumOff val="35000"/>
                  </a:schemeClr>
                </a:solidFill>
                <a:uFillTx/>
              </a:rPr>
              <a:t>ACM萌新裙：</a:t>
            </a:r>
          </a:p>
        </p:txBody>
      </p:sp>
      <p:sp>
        <p:nvSpPr>
          <p:cNvPr id="7" name="文本框 6"/>
          <p:cNvSpPr txBox="1"/>
          <p:nvPr/>
        </p:nvSpPr>
        <p:spPr>
          <a:xfrm>
            <a:off x="2199640" y="3726180"/>
            <a:ext cx="1525270" cy="368300"/>
          </a:xfrm>
          <a:prstGeom prst="rect">
            <a:avLst/>
          </a:prstGeom>
          <a:noFill/>
        </p:spPr>
        <p:txBody>
          <a:bodyPr wrap="square" rtlCol="0">
            <a:spAutoFit/>
          </a:bodyPr>
          <a:lstStyle/>
          <a:p>
            <a:r>
              <a:rPr lang="zh-CN" altLang="en-US" spc="200">
                <a:solidFill>
                  <a:schemeClr val="tx1">
                    <a:lumMod val="65000"/>
                    <a:lumOff val="35000"/>
                  </a:schemeClr>
                </a:solidFill>
                <a:uFillTx/>
              </a:rPr>
              <a:t>新生答疑裙：</a:t>
            </a:r>
          </a:p>
        </p:txBody>
      </p:sp>
      <p:sp>
        <p:nvSpPr>
          <p:cNvPr id="8" name="文本框 7"/>
          <p:cNvSpPr txBox="1"/>
          <p:nvPr/>
        </p:nvSpPr>
        <p:spPr>
          <a:xfrm>
            <a:off x="7593965" y="5166995"/>
            <a:ext cx="3721735" cy="368300"/>
          </a:xfrm>
          <a:prstGeom prst="rect">
            <a:avLst/>
          </a:prstGeom>
          <a:noFill/>
        </p:spPr>
        <p:txBody>
          <a:bodyPr wrap="square" rtlCol="0">
            <a:spAutoFit/>
          </a:bodyPr>
          <a:lstStyle/>
          <a:p>
            <a:r>
              <a:rPr lang="zh-CN" altLang="en-US" spc="200">
                <a:solidFill>
                  <a:schemeClr val="tx1">
                    <a:lumMod val="65000"/>
                    <a:lumOff val="35000"/>
                  </a:schemeClr>
                </a:solidFill>
                <a:uFillTx/>
              </a:rPr>
              <a:t>b站关注：HUSTACM_official</a:t>
            </a:r>
            <a:endParaRPr lang="en-US" altLang="zh-CN"/>
          </a:p>
        </p:txBody>
      </p:sp>
      <p:sp>
        <p:nvSpPr>
          <p:cNvPr id="9" name="文本框 8"/>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10" name="文本框 9"/>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11" name="文本框 10"/>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12" name="文本框 11"/>
          <p:cNvSpPr txBox="1"/>
          <p:nvPr/>
        </p:nvSpPr>
        <p:spPr>
          <a:xfrm>
            <a:off x="4270663" y="6287135"/>
            <a:ext cx="7439891" cy="338554"/>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喵喵喵喵喵喵喵喵喵喵喵喵喵喵喵喵喵喵喵喵喵喵</a:t>
            </a:r>
            <a:r>
              <a:rPr lang="zh-CN" altLang="en-US" sz="1600" dirty="0">
                <a:solidFill>
                  <a:schemeClr val="accent6">
                    <a:lumMod val="40000"/>
                    <a:lumOff val="60000"/>
                  </a:schemeClr>
                </a:solidFill>
                <a:sym typeface="+mn-ea"/>
              </a:rPr>
              <a:t>喵喵喵喵喵喵喵喵喵喵喵喵喵</a:t>
            </a:r>
          </a:p>
        </p:txBody>
      </p:sp>
      <p:pic>
        <p:nvPicPr>
          <p:cNvPr id="14" name="图片 13">
            <a:extLst>
              <a:ext uri="{FF2B5EF4-FFF2-40B4-BE49-F238E27FC236}">
                <a16:creationId xmlns:a16="http://schemas.microsoft.com/office/drawing/2014/main" id="{5C3D4025-D5C4-0132-BB8F-E08A38E28DB0}"/>
              </a:ext>
            </a:extLst>
          </p:cNvPr>
          <p:cNvPicPr>
            <a:picLocks/>
          </p:cNvPicPr>
          <p:nvPr/>
        </p:nvPicPr>
        <p:blipFill>
          <a:blip r:embed="rId6" cstate="print">
            <a:extLst>
              <a:ext uri="{28A0092B-C50C-407E-A947-70E740481C1C}">
                <a14:useLocalDpi xmlns:a14="http://schemas.microsoft.com/office/drawing/2010/main" val="0"/>
              </a:ext>
            </a:extLst>
          </a:blip>
          <a:srcRect t="14167" b="19287"/>
          <a:stretch>
            <a:fillRect/>
          </a:stretch>
        </p:blipFill>
        <p:spPr>
          <a:xfrm>
            <a:off x="2360295" y="4102842"/>
            <a:ext cx="1991360" cy="2479568"/>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1359D1-35D3-0F9B-7414-1A88EF6D7300}"/>
              </a:ext>
            </a:extLst>
          </p:cNvPr>
          <p:cNvSpPr>
            <a:spLocks noGrp="1"/>
          </p:cNvSpPr>
          <p:nvPr>
            <p:ph type="title"/>
          </p:nvPr>
        </p:nvSpPr>
        <p:spPr/>
        <p:txBody>
          <a:bodyPr/>
          <a:lstStyle/>
          <a:p>
            <a:r>
              <a:rPr lang="zh-CN" altLang="en-US" dirty="0"/>
              <a:t>先来点基础概念</a:t>
            </a:r>
          </a:p>
        </p:txBody>
      </p:sp>
      <p:sp>
        <p:nvSpPr>
          <p:cNvPr id="3" name="内容占位符 2">
            <a:extLst>
              <a:ext uri="{FF2B5EF4-FFF2-40B4-BE49-F238E27FC236}">
                <a16:creationId xmlns:a16="http://schemas.microsoft.com/office/drawing/2014/main" id="{272F21E1-CC3E-099E-90EA-D248C31C6696}"/>
              </a:ext>
            </a:extLst>
          </p:cNvPr>
          <p:cNvSpPr>
            <a:spLocks noGrp="1"/>
          </p:cNvSpPr>
          <p:nvPr>
            <p:ph idx="1"/>
          </p:nvPr>
        </p:nvSpPr>
        <p:spPr/>
        <p:txBody>
          <a:bodyPr/>
          <a:lstStyle/>
          <a:p>
            <a:r>
              <a:rPr lang="zh-CN" altLang="en-US" dirty="0"/>
              <a:t>点</a:t>
            </a:r>
            <a:endParaRPr lang="en-US" altLang="zh-CN" dirty="0"/>
          </a:p>
          <a:p>
            <a:r>
              <a:rPr lang="zh-CN" altLang="en-US" dirty="0"/>
              <a:t>边（有向</a:t>
            </a:r>
            <a:r>
              <a:rPr lang="en-US" altLang="zh-CN" dirty="0"/>
              <a:t>/</a:t>
            </a:r>
            <a:r>
              <a:rPr lang="zh-CN" altLang="en-US" dirty="0"/>
              <a:t>无向）</a:t>
            </a:r>
            <a:endParaRPr lang="en-US" altLang="zh-CN" dirty="0"/>
          </a:p>
          <a:p>
            <a:r>
              <a:rPr lang="zh-CN" altLang="en-US" dirty="0"/>
              <a:t>相邻</a:t>
            </a:r>
            <a:endParaRPr lang="en-US" altLang="zh-CN" dirty="0"/>
          </a:p>
          <a:p>
            <a:r>
              <a:rPr lang="zh-CN" altLang="en-US" dirty="0"/>
              <a:t>自环、重边、简单图</a:t>
            </a:r>
            <a:endParaRPr lang="en-US" altLang="zh-CN" dirty="0"/>
          </a:p>
          <a:p>
            <a:r>
              <a:rPr lang="zh-CN" altLang="en-US" dirty="0"/>
              <a:t>度、入度、出度</a:t>
            </a:r>
            <a:endParaRPr lang="en-US" altLang="zh-CN" dirty="0"/>
          </a:p>
          <a:p>
            <a:r>
              <a:rPr lang="zh-CN" altLang="en-US" dirty="0"/>
              <a:t>连通</a:t>
            </a:r>
          </a:p>
        </p:txBody>
      </p:sp>
      <p:sp>
        <p:nvSpPr>
          <p:cNvPr id="4" name="文本框 3">
            <a:extLst>
              <a:ext uri="{FF2B5EF4-FFF2-40B4-BE49-F238E27FC236}">
                <a16:creationId xmlns:a16="http://schemas.microsoft.com/office/drawing/2014/main" id="{7B62512B-019B-BC3D-C212-A35684AE2AA6}"/>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5" name="文本框 4">
            <a:extLst>
              <a:ext uri="{FF2B5EF4-FFF2-40B4-BE49-F238E27FC236}">
                <a16:creationId xmlns:a16="http://schemas.microsoft.com/office/drawing/2014/main" id="{A00C88A4-0A61-9275-C806-51D198C63C68}"/>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6" name="文本框 5">
            <a:extLst>
              <a:ext uri="{FF2B5EF4-FFF2-40B4-BE49-F238E27FC236}">
                <a16:creationId xmlns:a16="http://schemas.microsoft.com/office/drawing/2014/main" id="{3C9329CB-4C0B-9BB2-9BFA-4E6149DEB7F1}"/>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7" name="文本框 6">
            <a:extLst>
              <a:ext uri="{FF2B5EF4-FFF2-40B4-BE49-F238E27FC236}">
                <a16:creationId xmlns:a16="http://schemas.microsoft.com/office/drawing/2014/main" id="{70812949-C03B-D828-7592-CD6042B64DD2}"/>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22500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C2604D-D474-5B15-E77B-CBFFFB4B7481}"/>
              </a:ext>
            </a:extLst>
          </p:cNvPr>
          <p:cNvSpPr>
            <a:spLocks noGrp="1"/>
          </p:cNvSpPr>
          <p:nvPr>
            <p:ph type="title"/>
          </p:nvPr>
        </p:nvSpPr>
        <p:spPr/>
        <p:txBody>
          <a:bodyPr/>
          <a:lstStyle/>
          <a:p>
            <a:r>
              <a:rPr lang="zh-CN" altLang="en-US" dirty="0"/>
              <a:t>图的存储</a:t>
            </a:r>
            <a:r>
              <a:rPr lang="en-US" altLang="zh-CN" dirty="0"/>
              <a:t>——</a:t>
            </a:r>
            <a:r>
              <a:rPr lang="zh-CN" altLang="en-US" dirty="0"/>
              <a:t>直接存边</a:t>
            </a:r>
          </a:p>
        </p:txBody>
      </p:sp>
      <p:sp>
        <p:nvSpPr>
          <p:cNvPr id="3" name="内容占位符 2">
            <a:extLst>
              <a:ext uri="{FF2B5EF4-FFF2-40B4-BE49-F238E27FC236}">
                <a16:creationId xmlns:a16="http://schemas.microsoft.com/office/drawing/2014/main" id="{5EAC5EDF-E5E3-91B7-D669-B41634823B0E}"/>
              </a:ext>
            </a:extLst>
          </p:cNvPr>
          <p:cNvSpPr>
            <a:spLocks noGrp="1"/>
          </p:cNvSpPr>
          <p:nvPr>
            <p:ph idx="1"/>
          </p:nvPr>
        </p:nvSpPr>
        <p:spPr/>
        <p:txBody>
          <a:bodyPr/>
          <a:lstStyle/>
          <a:p>
            <a:r>
              <a:rPr lang="zh-CN" altLang="en-US" dirty="0"/>
              <a:t>演示一下</a:t>
            </a:r>
            <a:endParaRPr lang="en-US" altLang="zh-CN" dirty="0"/>
          </a:p>
          <a:p>
            <a:r>
              <a:rPr lang="zh-CN" altLang="en-US" dirty="0"/>
              <a:t>查询是否存在某条边：</a:t>
            </a:r>
            <a:endParaRPr lang="en-US" altLang="zh-CN" dirty="0"/>
          </a:p>
          <a:p>
            <a:r>
              <a:rPr lang="zh-CN" altLang="en-US" dirty="0"/>
              <a:t>遍历一个点的所有出边：</a:t>
            </a:r>
            <a:endParaRPr lang="en-US" altLang="zh-CN" dirty="0"/>
          </a:p>
          <a:p>
            <a:r>
              <a:rPr lang="zh-CN" altLang="en-US" dirty="0"/>
              <a:t>空间复杂度：</a:t>
            </a:r>
          </a:p>
        </p:txBody>
      </p:sp>
      <p:sp>
        <p:nvSpPr>
          <p:cNvPr id="4" name="文本框 3">
            <a:extLst>
              <a:ext uri="{FF2B5EF4-FFF2-40B4-BE49-F238E27FC236}">
                <a16:creationId xmlns:a16="http://schemas.microsoft.com/office/drawing/2014/main" id="{07C6B3AE-9C02-32FC-DB1F-CB420CEA3923}"/>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5" name="文本框 4">
            <a:extLst>
              <a:ext uri="{FF2B5EF4-FFF2-40B4-BE49-F238E27FC236}">
                <a16:creationId xmlns:a16="http://schemas.microsoft.com/office/drawing/2014/main" id="{2C2924D2-DC67-7C1B-A062-AB1C651D96F7}"/>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6" name="文本框 5">
            <a:extLst>
              <a:ext uri="{FF2B5EF4-FFF2-40B4-BE49-F238E27FC236}">
                <a16:creationId xmlns:a16="http://schemas.microsoft.com/office/drawing/2014/main" id="{CAD42DB0-1ED1-17A5-A294-6633E0652063}"/>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7" name="文本框 6">
            <a:extLst>
              <a:ext uri="{FF2B5EF4-FFF2-40B4-BE49-F238E27FC236}">
                <a16:creationId xmlns:a16="http://schemas.microsoft.com/office/drawing/2014/main" id="{7C814DAB-F475-4C1C-CD78-64245706F287}"/>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1727186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6033A2-E906-05BC-AF4B-470D998D664A}"/>
              </a:ext>
            </a:extLst>
          </p:cNvPr>
          <p:cNvSpPr>
            <a:spLocks noGrp="1"/>
          </p:cNvSpPr>
          <p:nvPr>
            <p:ph type="title"/>
          </p:nvPr>
        </p:nvSpPr>
        <p:spPr/>
        <p:txBody>
          <a:bodyPr>
            <a:normAutofit/>
          </a:bodyPr>
          <a:lstStyle/>
          <a:p>
            <a:r>
              <a:rPr lang="zh-CN" altLang="en-US" dirty="0"/>
              <a:t>图的存储</a:t>
            </a:r>
            <a:r>
              <a:rPr lang="en-US" altLang="zh-CN" dirty="0"/>
              <a:t>——</a:t>
            </a:r>
            <a:r>
              <a:rPr lang="zh-CN" altLang="en-US" dirty="0"/>
              <a:t>邻接矩阵</a:t>
            </a:r>
          </a:p>
        </p:txBody>
      </p:sp>
      <p:sp>
        <p:nvSpPr>
          <p:cNvPr id="3" name="内容占位符 2">
            <a:extLst>
              <a:ext uri="{FF2B5EF4-FFF2-40B4-BE49-F238E27FC236}">
                <a16:creationId xmlns:a16="http://schemas.microsoft.com/office/drawing/2014/main" id="{69D8C5EC-7DAB-EEA6-2D54-203DAA9359BD}"/>
              </a:ext>
            </a:extLst>
          </p:cNvPr>
          <p:cNvSpPr>
            <a:spLocks noGrp="1"/>
          </p:cNvSpPr>
          <p:nvPr>
            <p:ph idx="1"/>
          </p:nvPr>
        </p:nvSpPr>
        <p:spPr/>
        <p:txBody>
          <a:bodyPr/>
          <a:lstStyle/>
          <a:p>
            <a:r>
              <a:rPr lang="zh-CN" altLang="en-US" dirty="0"/>
              <a:t>演示一下</a:t>
            </a:r>
            <a:endParaRPr lang="en-US" altLang="zh-CN" dirty="0"/>
          </a:p>
          <a:p>
            <a:r>
              <a:rPr lang="zh-CN" altLang="en-US" dirty="0"/>
              <a:t>查询是否存在某条边：</a:t>
            </a:r>
            <a:endParaRPr lang="en-US" altLang="zh-CN" dirty="0"/>
          </a:p>
          <a:p>
            <a:r>
              <a:rPr lang="zh-CN" altLang="en-US" dirty="0"/>
              <a:t>遍历一个点的所有出边：</a:t>
            </a:r>
            <a:endParaRPr lang="en-US" altLang="zh-CN" dirty="0"/>
          </a:p>
          <a:p>
            <a:r>
              <a:rPr lang="zh-CN" altLang="en-US" dirty="0"/>
              <a:t>空间复杂度：</a:t>
            </a:r>
          </a:p>
          <a:p>
            <a:endParaRPr lang="zh-CN" altLang="en-US" dirty="0"/>
          </a:p>
        </p:txBody>
      </p:sp>
      <p:sp>
        <p:nvSpPr>
          <p:cNvPr id="4" name="文本框 3">
            <a:extLst>
              <a:ext uri="{FF2B5EF4-FFF2-40B4-BE49-F238E27FC236}">
                <a16:creationId xmlns:a16="http://schemas.microsoft.com/office/drawing/2014/main" id="{84EBAF7D-4682-4A0E-BE18-DCEB5969AE01}"/>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5" name="文本框 4">
            <a:extLst>
              <a:ext uri="{FF2B5EF4-FFF2-40B4-BE49-F238E27FC236}">
                <a16:creationId xmlns:a16="http://schemas.microsoft.com/office/drawing/2014/main" id="{4C2FF145-A09C-F60E-AE83-8A38B5245E70}"/>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6" name="文本框 5">
            <a:extLst>
              <a:ext uri="{FF2B5EF4-FFF2-40B4-BE49-F238E27FC236}">
                <a16:creationId xmlns:a16="http://schemas.microsoft.com/office/drawing/2014/main" id="{AAF34206-255F-2803-FFC9-5CB7BA76549C}"/>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7" name="文本框 6">
            <a:extLst>
              <a:ext uri="{FF2B5EF4-FFF2-40B4-BE49-F238E27FC236}">
                <a16:creationId xmlns:a16="http://schemas.microsoft.com/office/drawing/2014/main" id="{C3D6461A-3BFE-D224-CD97-68803792205B}"/>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2054666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32D76-774E-AA4A-E8A8-6F25BB5CBA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8437FF-856B-C7E7-33E8-2079DF1DA77F}"/>
              </a:ext>
            </a:extLst>
          </p:cNvPr>
          <p:cNvSpPr>
            <a:spLocks noGrp="1"/>
          </p:cNvSpPr>
          <p:nvPr>
            <p:ph type="title"/>
          </p:nvPr>
        </p:nvSpPr>
        <p:spPr/>
        <p:txBody>
          <a:bodyPr>
            <a:normAutofit/>
          </a:bodyPr>
          <a:lstStyle/>
          <a:p>
            <a:r>
              <a:rPr lang="zh-CN" altLang="en-US" dirty="0"/>
              <a:t>图的存储</a:t>
            </a:r>
            <a:r>
              <a:rPr lang="en-US" altLang="zh-CN" dirty="0"/>
              <a:t>——</a:t>
            </a:r>
            <a:r>
              <a:rPr lang="zh-CN" altLang="en-US" dirty="0"/>
              <a:t>邻接表</a:t>
            </a:r>
          </a:p>
        </p:txBody>
      </p:sp>
      <p:sp>
        <p:nvSpPr>
          <p:cNvPr id="3" name="内容占位符 2">
            <a:extLst>
              <a:ext uri="{FF2B5EF4-FFF2-40B4-BE49-F238E27FC236}">
                <a16:creationId xmlns:a16="http://schemas.microsoft.com/office/drawing/2014/main" id="{BE98CB7F-AAA5-5A9E-D14B-244F8539935A}"/>
              </a:ext>
            </a:extLst>
          </p:cNvPr>
          <p:cNvSpPr>
            <a:spLocks noGrp="1"/>
          </p:cNvSpPr>
          <p:nvPr>
            <p:ph idx="1"/>
          </p:nvPr>
        </p:nvSpPr>
        <p:spPr/>
        <p:txBody>
          <a:bodyPr/>
          <a:lstStyle/>
          <a:p>
            <a:r>
              <a:rPr lang="zh-CN" altLang="en-US" dirty="0"/>
              <a:t>演示一下</a:t>
            </a:r>
            <a:endParaRPr lang="en-US" altLang="zh-CN" dirty="0"/>
          </a:p>
          <a:p>
            <a:r>
              <a:rPr lang="zh-CN" altLang="en-US" dirty="0"/>
              <a:t>查询是否存在某条边：</a:t>
            </a:r>
            <a:endParaRPr lang="en-US" altLang="zh-CN" dirty="0"/>
          </a:p>
          <a:p>
            <a:r>
              <a:rPr lang="zh-CN" altLang="en-US" dirty="0"/>
              <a:t>遍历一个点的所有出边：</a:t>
            </a:r>
            <a:endParaRPr lang="en-US" altLang="zh-CN" dirty="0"/>
          </a:p>
          <a:p>
            <a:r>
              <a:rPr lang="zh-CN" altLang="en-US" dirty="0"/>
              <a:t>空间复杂度：</a:t>
            </a:r>
          </a:p>
          <a:p>
            <a:endParaRPr lang="zh-CN" altLang="en-US" dirty="0"/>
          </a:p>
        </p:txBody>
      </p:sp>
      <p:sp>
        <p:nvSpPr>
          <p:cNvPr id="4" name="文本框 3">
            <a:extLst>
              <a:ext uri="{FF2B5EF4-FFF2-40B4-BE49-F238E27FC236}">
                <a16:creationId xmlns:a16="http://schemas.microsoft.com/office/drawing/2014/main" id="{EB173A0E-0DA0-EEF9-9A4E-CC7DEF6BAC11}"/>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5" name="文本框 4">
            <a:extLst>
              <a:ext uri="{FF2B5EF4-FFF2-40B4-BE49-F238E27FC236}">
                <a16:creationId xmlns:a16="http://schemas.microsoft.com/office/drawing/2014/main" id="{56533850-F0CD-8D94-9EE4-D5D9A7F30AE9}"/>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6" name="文本框 5">
            <a:extLst>
              <a:ext uri="{FF2B5EF4-FFF2-40B4-BE49-F238E27FC236}">
                <a16:creationId xmlns:a16="http://schemas.microsoft.com/office/drawing/2014/main" id="{030108CB-F5E4-27F0-715E-1DD154F29CEC}"/>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7" name="文本框 6">
            <a:extLst>
              <a:ext uri="{FF2B5EF4-FFF2-40B4-BE49-F238E27FC236}">
                <a16:creationId xmlns:a16="http://schemas.microsoft.com/office/drawing/2014/main" id="{4D309967-EABB-13D2-2B37-92E4ACA63A19}"/>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70174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C1AFC3-F179-705E-D773-2BCA9DF424E8}"/>
              </a:ext>
            </a:extLst>
          </p:cNvPr>
          <p:cNvSpPr>
            <a:spLocks noGrp="1"/>
          </p:cNvSpPr>
          <p:nvPr>
            <p:ph type="title"/>
          </p:nvPr>
        </p:nvSpPr>
        <p:spPr/>
        <p:txBody>
          <a:bodyPr/>
          <a:lstStyle/>
          <a:p>
            <a:r>
              <a:rPr lang="zh-CN" altLang="en-US" dirty="0"/>
              <a:t>引入</a:t>
            </a:r>
            <a:r>
              <a:rPr lang="en-US" altLang="zh-CN" dirty="0"/>
              <a:t>——</a:t>
            </a:r>
            <a:r>
              <a:rPr lang="zh-CN" altLang="en-US" dirty="0"/>
              <a:t>生成树</a:t>
            </a:r>
          </a:p>
        </p:txBody>
      </p:sp>
      <p:sp>
        <p:nvSpPr>
          <p:cNvPr id="3" name="内容占位符 2">
            <a:extLst>
              <a:ext uri="{FF2B5EF4-FFF2-40B4-BE49-F238E27FC236}">
                <a16:creationId xmlns:a16="http://schemas.microsoft.com/office/drawing/2014/main" id="{08EC0B9B-A1F3-87DD-AEB7-41DB59A183C6}"/>
              </a:ext>
            </a:extLst>
          </p:cNvPr>
          <p:cNvSpPr>
            <a:spLocks noGrp="1"/>
          </p:cNvSpPr>
          <p:nvPr>
            <p:ph idx="1"/>
          </p:nvPr>
        </p:nvSpPr>
        <p:spPr/>
        <p:txBody>
          <a:bodyPr/>
          <a:lstStyle/>
          <a:p>
            <a:r>
              <a:rPr lang="zh-CN" altLang="en-US" dirty="0"/>
              <a:t>目标：从图的 </a:t>
            </a:r>
            <a:r>
              <a:rPr lang="en-US" altLang="zh-CN" dirty="0"/>
              <a:t>m </a:t>
            </a:r>
            <a:r>
              <a:rPr lang="zh-CN" altLang="en-US" dirty="0"/>
              <a:t>条无向边里选出 </a:t>
            </a:r>
            <a:r>
              <a:rPr lang="en-US" altLang="zh-CN" dirty="0"/>
              <a:t>n-1</a:t>
            </a:r>
            <a:r>
              <a:rPr lang="zh-CN" altLang="en-US" dirty="0"/>
              <a:t> 条，构成一棵树</a:t>
            </a:r>
            <a:endParaRPr lang="en-US" altLang="zh-CN" dirty="0"/>
          </a:p>
          <a:p>
            <a:r>
              <a:rPr lang="zh-CN" altLang="en-US" dirty="0"/>
              <a:t>回顾：树可以从一个点开始走到剩余全部点，并且树上不包括环</a:t>
            </a:r>
            <a:endParaRPr lang="en-US" altLang="zh-CN" dirty="0"/>
          </a:p>
          <a:p>
            <a:r>
              <a:rPr lang="en-US" altLang="zh-CN" dirty="0" err="1"/>
              <a:t>dfs</a:t>
            </a:r>
            <a:endParaRPr lang="en-US" altLang="zh-CN" dirty="0"/>
          </a:p>
        </p:txBody>
      </p:sp>
      <p:sp>
        <p:nvSpPr>
          <p:cNvPr id="4" name="文本框 3">
            <a:extLst>
              <a:ext uri="{FF2B5EF4-FFF2-40B4-BE49-F238E27FC236}">
                <a16:creationId xmlns:a16="http://schemas.microsoft.com/office/drawing/2014/main" id="{9FA279F9-931A-4EF0-FBDF-061B6E383397}"/>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5" name="文本框 4">
            <a:extLst>
              <a:ext uri="{FF2B5EF4-FFF2-40B4-BE49-F238E27FC236}">
                <a16:creationId xmlns:a16="http://schemas.microsoft.com/office/drawing/2014/main" id="{DC3DB221-7297-3F2C-EBC1-6A3248412179}"/>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6" name="文本框 5">
            <a:extLst>
              <a:ext uri="{FF2B5EF4-FFF2-40B4-BE49-F238E27FC236}">
                <a16:creationId xmlns:a16="http://schemas.microsoft.com/office/drawing/2014/main" id="{9303E063-FBEA-D06B-E8C0-C6F6495530C8}"/>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7" name="文本框 6">
            <a:extLst>
              <a:ext uri="{FF2B5EF4-FFF2-40B4-BE49-F238E27FC236}">
                <a16:creationId xmlns:a16="http://schemas.microsoft.com/office/drawing/2014/main" id="{B58AE904-ACF1-308A-E21E-129C2B92F4D9}"/>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2469155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27E22-95CA-D11C-75F5-79A22847312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B938CA9-24DF-55EF-994D-24C7342717DB}"/>
              </a:ext>
            </a:extLst>
          </p:cNvPr>
          <p:cNvSpPr>
            <a:spLocks noGrp="1"/>
          </p:cNvSpPr>
          <p:nvPr>
            <p:ph type="title"/>
          </p:nvPr>
        </p:nvSpPr>
        <p:spPr/>
        <p:txBody>
          <a:bodyPr/>
          <a:lstStyle/>
          <a:p>
            <a:r>
              <a:rPr lang="en-US" altLang="zh-CN" dirty="0" err="1"/>
              <a:t>dfs</a:t>
            </a:r>
            <a:endParaRPr lang="zh-CN" altLang="en-US" dirty="0"/>
          </a:p>
        </p:txBody>
      </p:sp>
      <p:sp>
        <p:nvSpPr>
          <p:cNvPr id="3" name="内容占位符 2">
            <a:extLst>
              <a:ext uri="{FF2B5EF4-FFF2-40B4-BE49-F238E27FC236}">
                <a16:creationId xmlns:a16="http://schemas.microsoft.com/office/drawing/2014/main" id="{831E708C-D81F-15F9-9B3C-87D1484B775F}"/>
              </a:ext>
            </a:extLst>
          </p:cNvPr>
          <p:cNvSpPr>
            <a:spLocks noGrp="1"/>
          </p:cNvSpPr>
          <p:nvPr>
            <p:ph idx="1"/>
          </p:nvPr>
        </p:nvSpPr>
        <p:spPr/>
        <p:txBody>
          <a:bodyPr/>
          <a:lstStyle/>
          <a:p>
            <a:r>
              <a:rPr lang="zh-CN" altLang="en-US" dirty="0"/>
              <a:t>演示一下</a:t>
            </a:r>
            <a:endParaRPr lang="en-US" altLang="zh-CN" dirty="0"/>
          </a:p>
        </p:txBody>
      </p:sp>
      <p:sp>
        <p:nvSpPr>
          <p:cNvPr id="4" name="文本框 3">
            <a:extLst>
              <a:ext uri="{FF2B5EF4-FFF2-40B4-BE49-F238E27FC236}">
                <a16:creationId xmlns:a16="http://schemas.microsoft.com/office/drawing/2014/main" id="{B3A1CD7F-679E-3AEE-5B4B-EBB28AF6E3DB}"/>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6" name="文本框 5">
            <a:extLst>
              <a:ext uri="{FF2B5EF4-FFF2-40B4-BE49-F238E27FC236}">
                <a16:creationId xmlns:a16="http://schemas.microsoft.com/office/drawing/2014/main" id="{116BDB28-0C26-C534-100E-CEE7C401EA84}"/>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7" name="文本框 6">
            <a:extLst>
              <a:ext uri="{FF2B5EF4-FFF2-40B4-BE49-F238E27FC236}">
                <a16:creationId xmlns:a16="http://schemas.microsoft.com/office/drawing/2014/main" id="{7D32EA79-D65B-D54D-7799-3201D96FEA92}"/>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8" name="文本框 7">
            <a:extLst>
              <a:ext uri="{FF2B5EF4-FFF2-40B4-BE49-F238E27FC236}">
                <a16:creationId xmlns:a16="http://schemas.microsoft.com/office/drawing/2014/main" id="{43E68564-C6AE-4184-53AC-6A1C0AF3F939}"/>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169751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06C46-59E1-41E3-9150-68BD2B3F03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1B0BCD6-4F97-0A1C-0F02-8BCC602A60B6}"/>
              </a:ext>
            </a:extLst>
          </p:cNvPr>
          <p:cNvSpPr>
            <a:spLocks noGrp="1"/>
          </p:cNvSpPr>
          <p:nvPr>
            <p:ph type="title"/>
          </p:nvPr>
        </p:nvSpPr>
        <p:spPr/>
        <p:txBody>
          <a:bodyPr/>
          <a:lstStyle/>
          <a:p>
            <a:r>
              <a:rPr lang="en-US" altLang="zh-CN" dirty="0" err="1"/>
              <a:t>dfs</a:t>
            </a:r>
            <a:r>
              <a:rPr lang="en-US" altLang="zh-CN" dirty="0"/>
              <a:t> </a:t>
            </a:r>
            <a:r>
              <a:rPr lang="zh-CN" altLang="en-US" dirty="0"/>
              <a:t>的应用</a:t>
            </a:r>
          </a:p>
        </p:txBody>
      </p:sp>
      <p:sp>
        <p:nvSpPr>
          <p:cNvPr id="3" name="内容占位符 2">
            <a:extLst>
              <a:ext uri="{FF2B5EF4-FFF2-40B4-BE49-F238E27FC236}">
                <a16:creationId xmlns:a16="http://schemas.microsoft.com/office/drawing/2014/main" id="{47E1282A-9639-18ED-991C-7F0D9F129E3A}"/>
              </a:ext>
            </a:extLst>
          </p:cNvPr>
          <p:cNvSpPr>
            <a:spLocks noGrp="1"/>
          </p:cNvSpPr>
          <p:nvPr>
            <p:ph idx="1"/>
          </p:nvPr>
        </p:nvSpPr>
        <p:spPr/>
        <p:txBody>
          <a:bodyPr/>
          <a:lstStyle/>
          <a:p>
            <a:r>
              <a:rPr lang="en-US" altLang="zh-CN" dirty="0"/>
              <a:t>https://www.luogu.com.cn/problem/P3916</a:t>
            </a:r>
          </a:p>
        </p:txBody>
      </p:sp>
      <p:sp>
        <p:nvSpPr>
          <p:cNvPr id="4" name="文本框 3">
            <a:extLst>
              <a:ext uri="{FF2B5EF4-FFF2-40B4-BE49-F238E27FC236}">
                <a16:creationId xmlns:a16="http://schemas.microsoft.com/office/drawing/2014/main" id="{A145DC89-3C83-2C64-BCE1-8E2EA87D6F4B}"/>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6" name="文本框 5">
            <a:extLst>
              <a:ext uri="{FF2B5EF4-FFF2-40B4-BE49-F238E27FC236}">
                <a16:creationId xmlns:a16="http://schemas.microsoft.com/office/drawing/2014/main" id="{08EB300D-D983-F20F-64A7-05CBF3D76700}"/>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7" name="文本框 6">
            <a:extLst>
              <a:ext uri="{FF2B5EF4-FFF2-40B4-BE49-F238E27FC236}">
                <a16:creationId xmlns:a16="http://schemas.microsoft.com/office/drawing/2014/main" id="{A2C49212-6547-ABAF-CA1E-4E6B8B92F955}"/>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8" name="文本框 7">
            <a:extLst>
              <a:ext uri="{FF2B5EF4-FFF2-40B4-BE49-F238E27FC236}">
                <a16:creationId xmlns:a16="http://schemas.microsoft.com/office/drawing/2014/main" id="{2251692F-E911-747E-AED1-58115087E844}"/>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4095246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D24B0-F749-668F-DC48-CD1DB08E42A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38B9C85-0451-71B1-65C1-381993ABD8E8}"/>
              </a:ext>
            </a:extLst>
          </p:cNvPr>
          <p:cNvSpPr>
            <a:spLocks noGrp="1"/>
          </p:cNvSpPr>
          <p:nvPr>
            <p:ph type="title"/>
          </p:nvPr>
        </p:nvSpPr>
        <p:spPr/>
        <p:txBody>
          <a:bodyPr/>
          <a:lstStyle/>
          <a:p>
            <a:r>
              <a:rPr lang="zh-CN" altLang="en-US" dirty="0"/>
              <a:t>引入</a:t>
            </a:r>
            <a:r>
              <a:rPr lang="en-US" altLang="zh-CN" dirty="0"/>
              <a:t>——</a:t>
            </a:r>
            <a:r>
              <a:rPr lang="zh-CN" altLang="en-US" dirty="0"/>
              <a:t>最短路</a:t>
            </a:r>
          </a:p>
        </p:txBody>
      </p:sp>
      <p:sp>
        <p:nvSpPr>
          <p:cNvPr id="3" name="内容占位符 2">
            <a:extLst>
              <a:ext uri="{FF2B5EF4-FFF2-40B4-BE49-F238E27FC236}">
                <a16:creationId xmlns:a16="http://schemas.microsoft.com/office/drawing/2014/main" id="{75D13035-745B-C281-C0C9-B31A4291486F}"/>
              </a:ext>
            </a:extLst>
          </p:cNvPr>
          <p:cNvSpPr>
            <a:spLocks noGrp="1"/>
          </p:cNvSpPr>
          <p:nvPr>
            <p:ph idx="1"/>
          </p:nvPr>
        </p:nvSpPr>
        <p:spPr/>
        <p:txBody>
          <a:bodyPr/>
          <a:lstStyle/>
          <a:p>
            <a:r>
              <a:rPr lang="zh-CN" altLang="en-US" dirty="0"/>
              <a:t>目标：从节点 </a:t>
            </a:r>
            <a:r>
              <a:rPr lang="en-US" altLang="zh-CN" dirty="0"/>
              <a:t>1 </a:t>
            </a:r>
            <a:r>
              <a:rPr lang="zh-CN" altLang="en-US" dirty="0"/>
              <a:t>出发，走到剩余节点的最短路径长度</a:t>
            </a:r>
            <a:endParaRPr lang="en-US" altLang="zh-CN" dirty="0"/>
          </a:p>
          <a:p>
            <a:r>
              <a:rPr lang="zh-CN" altLang="en-US" dirty="0"/>
              <a:t>新概念：路径、路径长度、最短路</a:t>
            </a:r>
            <a:endParaRPr lang="en-US" altLang="zh-CN" dirty="0"/>
          </a:p>
          <a:p>
            <a:r>
              <a:rPr lang="zh-CN" altLang="en-US" dirty="0"/>
              <a:t>打个比方：墨水晕染</a:t>
            </a:r>
            <a:endParaRPr lang="en-US" altLang="zh-CN" dirty="0"/>
          </a:p>
        </p:txBody>
      </p:sp>
      <p:sp>
        <p:nvSpPr>
          <p:cNvPr id="4" name="文本框 3">
            <a:extLst>
              <a:ext uri="{FF2B5EF4-FFF2-40B4-BE49-F238E27FC236}">
                <a16:creationId xmlns:a16="http://schemas.microsoft.com/office/drawing/2014/main" id="{1F4C76FB-80DD-841E-D475-15F60A3C491B}"/>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5" name="文本框 4">
            <a:extLst>
              <a:ext uri="{FF2B5EF4-FFF2-40B4-BE49-F238E27FC236}">
                <a16:creationId xmlns:a16="http://schemas.microsoft.com/office/drawing/2014/main" id="{2EDC21D0-23C1-6176-663D-B1C4D685A3E7}"/>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6" name="文本框 5">
            <a:extLst>
              <a:ext uri="{FF2B5EF4-FFF2-40B4-BE49-F238E27FC236}">
                <a16:creationId xmlns:a16="http://schemas.microsoft.com/office/drawing/2014/main" id="{0016A3A5-44F0-A3B3-E2D1-CD269566948B}"/>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7" name="文本框 6">
            <a:extLst>
              <a:ext uri="{FF2B5EF4-FFF2-40B4-BE49-F238E27FC236}">
                <a16:creationId xmlns:a16="http://schemas.microsoft.com/office/drawing/2014/main" id="{28C232D4-2405-3C2C-9996-CE5C256A15AE}"/>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3361944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B827C-58C7-4AC6-9017-4BDF23C4A6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2C7C578-AEF7-7403-5CD5-9872339197B4}"/>
              </a:ext>
            </a:extLst>
          </p:cNvPr>
          <p:cNvSpPr>
            <a:spLocks noGrp="1"/>
          </p:cNvSpPr>
          <p:nvPr>
            <p:ph type="title"/>
          </p:nvPr>
        </p:nvSpPr>
        <p:spPr/>
        <p:txBody>
          <a:bodyPr/>
          <a:lstStyle/>
          <a:p>
            <a:r>
              <a:rPr lang="en-US" altLang="zh-CN" dirty="0" err="1"/>
              <a:t>bfs</a:t>
            </a:r>
            <a:endParaRPr lang="zh-CN" altLang="en-US" dirty="0"/>
          </a:p>
        </p:txBody>
      </p:sp>
      <p:sp>
        <p:nvSpPr>
          <p:cNvPr id="3" name="内容占位符 2">
            <a:extLst>
              <a:ext uri="{FF2B5EF4-FFF2-40B4-BE49-F238E27FC236}">
                <a16:creationId xmlns:a16="http://schemas.microsoft.com/office/drawing/2014/main" id="{5911335C-2CD8-9BE5-C7A7-C70C70B3A1C6}"/>
              </a:ext>
            </a:extLst>
          </p:cNvPr>
          <p:cNvSpPr>
            <a:spLocks noGrp="1"/>
          </p:cNvSpPr>
          <p:nvPr>
            <p:ph idx="1"/>
          </p:nvPr>
        </p:nvSpPr>
        <p:spPr/>
        <p:txBody>
          <a:bodyPr/>
          <a:lstStyle/>
          <a:p>
            <a:r>
              <a:rPr lang="zh-CN" altLang="en-US" dirty="0"/>
              <a:t>演示一下</a:t>
            </a:r>
            <a:endParaRPr lang="en-US" altLang="zh-CN" dirty="0"/>
          </a:p>
        </p:txBody>
      </p:sp>
      <p:sp>
        <p:nvSpPr>
          <p:cNvPr id="4" name="文本框 3">
            <a:extLst>
              <a:ext uri="{FF2B5EF4-FFF2-40B4-BE49-F238E27FC236}">
                <a16:creationId xmlns:a16="http://schemas.microsoft.com/office/drawing/2014/main" id="{A2DCFC08-84C8-BF52-8C42-E5DC9540E50F}"/>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5" name="文本框 4">
            <a:extLst>
              <a:ext uri="{FF2B5EF4-FFF2-40B4-BE49-F238E27FC236}">
                <a16:creationId xmlns:a16="http://schemas.microsoft.com/office/drawing/2014/main" id="{5E3668DB-0BF8-B73D-1FEC-D22FBB068DCB}"/>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6" name="文本框 5">
            <a:extLst>
              <a:ext uri="{FF2B5EF4-FFF2-40B4-BE49-F238E27FC236}">
                <a16:creationId xmlns:a16="http://schemas.microsoft.com/office/drawing/2014/main" id="{66A93442-9D46-87C5-4CD0-91028275BA02}"/>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7" name="文本框 6">
            <a:extLst>
              <a:ext uri="{FF2B5EF4-FFF2-40B4-BE49-F238E27FC236}">
                <a16:creationId xmlns:a16="http://schemas.microsoft.com/office/drawing/2014/main" id="{991E0928-8F14-74D6-1F15-3B1AEBD470AE}"/>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1804161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035955-926A-55F3-7C9A-6435706281ED}"/>
              </a:ext>
            </a:extLst>
          </p:cNvPr>
          <p:cNvSpPr>
            <a:spLocks noGrp="1"/>
          </p:cNvSpPr>
          <p:nvPr>
            <p:ph type="title"/>
          </p:nvPr>
        </p:nvSpPr>
        <p:spPr/>
        <p:txBody>
          <a:bodyPr/>
          <a:lstStyle/>
          <a:p>
            <a:r>
              <a:rPr lang="en-US" altLang="zh-CN" dirty="0" err="1"/>
              <a:t>bfs</a:t>
            </a:r>
            <a:r>
              <a:rPr lang="en-US" altLang="zh-CN" dirty="0"/>
              <a:t> </a:t>
            </a:r>
            <a:r>
              <a:rPr lang="zh-CN" altLang="en-US" dirty="0"/>
              <a:t>的应用</a:t>
            </a:r>
          </a:p>
        </p:txBody>
      </p:sp>
      <p:sp>
        <p:nvSpPr>
          <p:cNvPr id="3" name="内容占位符 2">
            <a:extLst>
              <a:ext uri="{FF2B5EF4-FFF2-40B4-BE49-F238E27FC236}">
                <a16:creationId xmlns:a16="http://schemas.microsoft.com/office/drawing/2014/main" id="{D3D4F9E3-C9A6-FEFF-433D-9552A025CA23}"/>
              </a:ext>
            </a:extLst>
          </p:cNvPr>
          <p:cNvSpPr>
            <a:spLocks noGrp="1"/>
          </p:cNvSpPr>
          <p:nvPr>
            <p:ph idx="1"/>
          </p:nvPr>
        </p:nvSpPr>
        <p:spPr/>
        <p:txBody>
          <a:bodyPr/>
          <a:lstStyle/>
          <a:p>
            <a:r>
              <a:rPr lang="zh-CN" altLang="en-US" dirty="0"/>
              <a:t>求出所有连通块</a:t>
            </a:r>
            <a:endParaRPr lang="en-US" altLang="zh-CN" dirty="0"/>
          </a:p>
          <a:p>
            <a:r>
              <a:rPr lang="zh-CN" altLang="en-US" dirty="0"/>
              <a:t>在一</a:t>
            </a:r>
            <a:r>
              <a:rPr lang="zh-CN" altLang="en-US"/>
              <a:t>个有向图</a:t>
            </a:r>
            <a:r>
              <a:rPr lang="zh-CN" altLang="en-US" dirty="0"/>
              <a:t>中找最小环</a:t>
            </a:r>
            <a:endParaRPr lang="en-US" altLang="zh-CN" dirty="0"/>
          </a:p>
          <a:p>
            <a:r>
              <a:rPr lang="zh-CN" altLang="en-US" dirty="0"/>
              <a:t>找到可以在 </a:t>
            </a:r>
            <a:r>
              <a:rPr lang="en-US" altLang="zh-CN" dirty="0"/>
              <a:t>a-&gt;b </a:t>
            </a:r>
            <a:r>
              <a:rPr lang="zh-CN" altLang="en-US" dirty="0"/>
              <a:t>的最短路上的边</a:t>
            </a:r>
            <a:endParaRPr lang="en-US" altLang="zh-CN" dirty="0"/>
          </a:p>
          <a:p>
            <a:r>
              <a:rPr lang="zh-CN" altLang="en-US" dirty="0"/>
              <a:t>找到可以在 </a:t>
            </a:r>
            <a:r>
              <a:rPr lang="en-US" altLang="zh-CN" dirty="0"/>
              <a:t>a-&gt;b </a:t>
            </a:r>
            <a:r>
              <a:rPr lang="zh-CN" altLang="en-US" dirty="0"/>
              <a:t>的最短路上的点</a:t>
            </a:r>
            <a:endParaRPr lang="en-US" altLang="zh-CN" dirty="0"/>
          </a:p>
          <a:p>
            <a:endParaRPr lang="en-US" altLang="zh-CN" dirty="0"/>
          </a:p>
          <a:p>
            <a:endParaRPr lang="zh-CN" altLang="en-US" dirty="0"/>
          </a:p>
        </p:txBody>
      </p:sp>
      <p:sp>
        <p:nvSpPr>
          <p:cNvPr id="6" name="文本框 5">
            <a:extLst>
              <a:ext uri="{FF2B5EF4-FFF2-40B4-BE49-F238E27FC236}">
                <a16:creationId xmlns:a16="http://schemas.microsoft.com/office/drawing/2014/main" id="{A9387EA0-EFC2-CD0E-458F-0325426AB100}"/>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7" name="文本框 6">
            <a:extLst>
              <a:ext uri="{FF2B5EF4-FFF2-40B4-BE49-F238E27FC236}">
                <a16:creationId xmlns:a16="http://schemas.microsoft.com/office/drawing/2014/main" id="{9D128580-632C-CF37-0B72-B7B737463DA7}"/>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8" name="文本框 7">
            <a:extLst>
              <a:ext uri="{FF2B5EF4-FFF2-40B4-BE49-F238E27FC236}">
                <a16:creationId xmlns:a16="http://schemas.microsoft.com/office/drawing/2014/main" id="{7A1E8D74-5FB4-A0DE-3B48-69F3708C1594}"/>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9" name="文本框 8">
            <a:extLst>
              <a:ext uri="{FF2B5EF4-FFF2-40B4-BE49-F238E27FC236}">
                <a16:creationId xmlns:a16="http://schemas.microsoft.com/office/drawing/2014/main" id="{D1CDAA42-0055-FEDF-4934-A64865C0AA3B}"/>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1351735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A9674E-99A4-17BF-5A19-1A158BAC24C5}"/>
              </a:ext>
            </a:extLst>
          </p:cNvPr>
          <p:cNvSpPr>
            <a:spLocks noGrp="1"/>
          </p:cNvSpPr>
          <p:nvPr>
            <p:ph type="title"/>
          </p:nvPr>
        </p:nvSpPr>
        <p:spPr/>
        <p:txBody>
          <a:bodyPr/>
          <a:lstStyle/>
          <a:p>
            <a:r>
              <a:rPr lang="zh-CN" altLang="en-US" dirty="0"/>
              <a:t>小拓展</a:t>
            </a:r>
            <a:r>
              <a:rPr lang="en-US" altLang="zh-CN" dirty="0"/>
              <a:t>——</a:t>
            </a:r>
            <a:r>
              <a:rPr lang="zh-CN" altLang="en-US" dirty="0"/>
              <a:t>建图思考</a:t>
            </a:r>
          </a:p>
        </p:txBody>
      </p:sp>
      <p:sp>
        <p:nvSpPr>
          <p:cNvPr id="3" name="内容占位符 2">
            <a:extLst>
              <a:ext uri="{FF2B5EF4-FFF2-40B4-BE49-F238E27FC236}">
                <a16:creationId xmlns:a16="http://schemas.microsoft.com/office/drawing/2014/main" id="{B5E624F4-A33C-6B9D-C1DE-26481F79E365}"/>
              </a:ext>
            </a:extLst>
          </p:cNvPr>
          <p:cNvSpPr>
            <a:spLocks noGrp="1"/>
          </p:cNvSpPr>
          <p:nvPr>
            <p:ph idx="1"/>
          </p:nvPr>
        </p:nvSpPr>
        <p:spPr/>
        <p:txBody>
          <a:bodyPr/>
          <a:lstStyle/>
          <a:p>
            <a:r>
              <a:rPr lang="zh-CN" altLang="en-US" dirty="0"/>
              <a:t>找到一条长度为偶数的最短路</a:t>
            </a:r>
          </a:p>
        </p:txBody>
      </p:sp>
      <p:sp>
        <p:nvSpPr>
          <p:cNvPr id="4" name="文本框 3">
            <a:extLst>
              <a:ext uri="{FF2B5EF4-FFF2-40B4-BE49-F238E27FC236}">
                <a16:creationId xmlns:a16="http://schemas.microsoft.com/office/drawing/2014/main" id="{29B1DF36-D1DC-B076-1114-F89D2745C6A6}"/>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5" name="文本框 4">
            <a:extLst>
              <a:ext uri="{FF2B5EF4-FFF2-40B4-BE49-F238E27FC236}">
                <a16:creationId xmlns:a16="http://schemas.microsoft.com/office/drawing/2014/main" id="{CEF476B4-A765-1DAF-772F-91B9AEDBCAD5}"/>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6" name="文本框 5">
            <a:extLst>
              <a:ext uri="{FF2B5EF4-FFF2-40B4-BE49-F238E27FC236}">
                <a16:creationId xmlns:a16="http://schemas.microsoft.com/office/drawing/2014/main" id="{4A95DEEF-FD18-CBC2-531F-56D1FB55D4DB}"/>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7" name="文本框 6">
            <a:extLst>
              <a:ext uri="{FF2B5EF4-FFF2-40B4-BE49-F238E27FC236}">
                <a16:creationId xmlns:a16="http://schemas.microsoft.com/office/drawing/2014/main" id="{BD849D29-1A2D-416E-A867-7E438591FAD8}"/>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1993325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86FF01-F7FE-8592-78B8-07242AEA3FF7}"/>
              </a:ext>
            </a:extLst>
          </p:cNvPr>
          <p:cNvSpPr>
            <a:spLocks noGrp="1"/>
          </p:cNvSpPr>
          <p:nvPr>
            <p:ph type="title"/>
          </p:nvPr>
        </p:nvSpPr>
        <p:spPr/>
        <p:txBody>
          <a:bodyPr/>
          <a:lstStyle/>
          <a:p>
            <a:r>
              <a:rPr lang="zh-CN" altLang="en-US" dirty="0"/>
              <a:t>还有时间？</a:t>
            </a:r>
          </a:p>
        </p:txBody>
      </p:sp>
      <p:sp>
        <p:nvSpPr>
          <p:cNvPr id="3" name="内容占位符 2">
            <a:extLst>
              <a:ext uri="{FF2B5EF4-FFF2-40B4-BE49-F238E27FC236}">
                <a16:creationId xmlns:a16="http://schemas.microsoft.com/office/drawing/2014/main" id="{9B42F22C-2496-916B-FEDA-65A77DC24EC8}"/>
              </a:ext>
            </a:extLst>
          </p:cNvPr>
          <p:cNvSpPr>
            <a:spLocks noGrp="1"/>
          </p:cNvSpPr>
          <p:nvPr>
            <p:ph idx="1"/>
          </p:nvPr>
        </p:nvSpPr>
        <p:spPr/>
        <p:txBody>
          <a:bodyPr/>
          <a:lstStyle/>
          <a:p>
            <a:r>
              <a:rPr lang="zh-CN" altLang="en-US" dirty="0"/>
              <a:t>仍然求从节点 </a:t>
            </a:r>
            <a:r>
              <a:rPr lang="en-US" altLang="zh-CN" dirty="0"/>
              <a:t>1 </a:t>
            </a:r>
            <a:r>
              <a:rPr lang="zh-CN" altLang="en-US" dirty="0"/>
              <a:t>出发，走到剩余节点的最短路径长度</a:t>
            </a:r>
            <a:endParaRPr lang="en-US" altLang="zh-CN" dirty="0"/>
          </a:p>
          <a:p>
            <a:r>
              <a:rPr lang="zh-CN" altLang="en-US" dirty="0"/>
              <a:t>但是边有边权（较小）</a:t>
            </a:r>
          </a:p>
        </p:txBody>
      </p:sp>
      <p:sp>
        <p:nvSpPr>
          <p:cNvPr id="4" name="文本框 3">
            <a:extLst>
              <a:ext uri="{FF2B5EF4-FFF2-40B4-BE49-F238E27FC236}">
                <a16:creationId xmlns:a16="http://schemas.microsoft.com/office/drawing/2014/main" id="{98932183-9F17-EF9E-B6CB-966FC402C06B}"/>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5" name="文本框 4">
            <a:extLst>
              <a:ext uri="{FF2B5EF4-FFF2-40B4-BE49-F238E27FC236}">
                <a16:creationId xmlns:a16="http://schemas.microsoft.com/office/drawing/2014/main" id="{3762CA06-B0FB-97DC-E52B-3463A0725BB7}"/>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6" name="文本框 5">
            <a:extLst>
              <a:ext uri="{FF2B5EF4-FFF2-40B4-BE49-F238E27FC236}">
                <a16:creationId xmlns:a16="http://schemas.microsoft.com/office/drawing/2014/main" id="{CCC7F399-2479-135A-DC5E-1D003518626B}"/>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7" name="文本框 6">
            <a:extLst>
              <a:ext uri="{FF2B5EF4-FFF2-40B4-BE49-F238E27FC236}">
                <a16:creationId xmlns:a16="http://schemas.microsoft.com/office/drawing/2014/main" id="{4CB688D2-EBCD-B3C0-7E0B-921F22A17109}"/>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3903132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587795-A252-E670-BC0D-FE49AD988F38}"/>
              </a:ext>
            </a:extLst>
          </p:cNvPr>
          <p:cNvSpPr>
            <a:spLocks noGrp="1"/>
          </p:cNvSpPr>
          <p:nvPr>
            <p:ph type="title"/>
          </p:nvPr>
        </p:nvSpPr>
        <p:spPr/>
        <p:txBody>
          <a:bodyPr/>
          <a:lstStyle/>
          <a:p>
            <a:r>
              <a:rPr lang="zh-CN" altLang="en-US" dirty="0"/>
              <a:t>还有时间？</a:t>
            </a:r>
          </a:p>
        </p:txBody>
      </p:sp>
      <p:sp>
        <p:nvSpPr>
          <p:cNvPr id="3" name="内容占位符 2">
            <a:extLst>
              <a:ext uri="{FF2B5EF4-FFF2-40B4-BE49-F238E27FC236}">
                <a16:creationId xmlns:a16="http://schemas.microsoft.com/office/drawing/2014/main" id="{0A9F1C95-1F41-A144-2A00-E66B8CD37257}"/>
              </a:ext>
            </a:extLst>
          </p:cNvPr>
          <p:cNvSpPr>
            <a:spLocks noGrp="1"/>
          </p:cNvSpPr>
          <p:nvPr>
            <p:ph idx="1"/>
          </p:nvPr>
        </p:nvSpPr>
        <p:spPr/>
        <p:txBody>
          <a:bodyPr/>
          <a:lstStyle/>
          <a:p>
            <a:r>
              <a:rPr lang="zh-CN" altLang="en-US" dirty="0"/>
              <a:t>了解 </a:t>
            </a:r>
            <a:r>
              <a:rPr lang="en-US" altLang="zh-CN" dirty="0"/>
              <a:t>01 </a:t>
            </a:r>
            <a:r>
              <a:rPr lang="en-US" altLang="zh-CN" dirty="0" err="1"/>
              <a:t>bfs</a:t>
            </a:r>
            <a:r>
              <a:rPr lang="en-US" altLang="zh-CN" dirty="0"/>
              <a:t> </a:t>
            </a:r>
            <a:endParaRPr lang="zh-CN" altLang="en-US" dirty="0"/>
          </a:p>
        </p:txBody>
      </p:sp>
      <p:sp>
        <p:nvSpPr>
          <p:cNvPr id="4" name="文本框 3">
            <a:extLst>
              <a:ext uri="{FF2B5EF4-FFF2-40B4-BE49-F238E27FC236}">
                <a16:creationId xmlns:a16="http://schemas.microsoft.com/office/drawing/2014/main" id="{625F30C0-ADAC-4246-0D92-D4DD586626B4}"/>
              </a:ext>
            </a:extLst>
          </p:cNvPr>
          <p:cNvSpPr txBox="1"/>
          <p:nvPr/>
        </p:nvSpPr>
        <p:spPr>
          <a:xfrm>
            <a:off x="263525" y="170815"/>
            <a:ext cx="11670665" cy="337185"/>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喵喵喵喵喵喵喵喵喵喵喵喵喵喵喵喵喵喵</a:t>
            </a:r>
            <a:r>
              <a:rPr lang="zh-CN" altLang="en-US" sz="1600" dirty="0">
                <a:solidFill>
                  <a:schemeClr val="accent6">
                    <a:lumMod val="40000"/>
                    <a:lumOff val="60000"/>
                  </a:schemeClr>
                </a:solidFill>
                <a:sym typeface="+mn-ea"/>
              </a:rPr>
              <a:t>喵喵喵喵喵喵喵喵喵喵喵喵喵喵喵喵喵喵喵喵喵喵喵喵喵喵喵喵喵喵喵喵喵喵喵喵喵喵</a:t>
            </a:r>
          </a:p>
        </p:txBody>
      </p:sp>
      <p:sp>
        <p:nvSpPr>
          <p:cNvPr id="5" name="文本框 4">
            <a:extLst>
              <a:ext uri="{FF2B5EF4-FFF2-40B4-BE49-F238E27FC236}">
                <a16:creationId xmlns:a16="http://schemas.microsoft.com/office/drawing/2014/main" id="{5CE5F99D-839D-3DF7-71A5-C28BF4B9EA36}"/>
              </a:ext>
            </a:extLst>
          </p:cNvPr>
          <p:cNvSpPr txBox="1"/>
          <p:nvPr/>
        </p:nvSpPr>
        <p:spPr>
          <a:xfrm>
            <a:off x="263525" y="434340"/>
            <a:ext cx="475615" cy="329184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a:t>
            </a:r>
          </a:p>
        </p:txBody>
      </p:sp>
      <p:sp>
        <p:nvSpPr>
          <p:cNvPr id="6" name="文本框 5">
            <a:extLst>
              <a:ext uri="{FF2B5EF4-FFF2-40B4-BE49-F238E27FC236}">
                <a16:creationId xmlns:a16="http://schemas.microsoft.com/office/drawing/2014/main" id="{0E7A3EFD-7AE2-92F6-C8E8-A109E239C5D7}"/>
              </a:ext>
            </a:extLst>
          </p:cNvPr>
          <p:cNvSpPr txBox="1"/>
          <p:nvPr/>
        </p:nvSpPr>
        <p:spPr>
          <a:xfrm>
            <a:off x="11457940" y="434340"/>
            <a:ext cx="475615" cy="6247130"/>
          </a:xfrm>
          <a:prstGeom prst="rect">
            <a:avLst/>
          </a:prstGeom>
          <a:noFill/>
        </p:spPr>
        <p:txBody>
          <a:bodyPr wrap="square" rtlCol="0">
            <a:spAutoFit/>
          </a:bodyPr>
          <a:lstStyle/>
          <a:p>
            <a:r>
              <a:rPr lang="zh-CN" altLang="en-US" sz="1600" dirty="0">
                <a:solidFill>
                  <a:schemeClr val="accent6">
                    <a:lumMod val="40000"/>
                    <a:lumOff val="60000"/>
                  </a:schemeClr>
                </a:solidFill>
              </a:rPr>
              <a:t>喵喵喵喵喵喵喵喵喵喵</a:t>
            </a:r>
            <a:r>
              <a:rPr lang="zh-CN" altLang="en-US" sz="1600" dirty="0">
                <a:solidFill>
                  <a:schemeClr val="accent6">
                    <a:lumMod val="40000"/>
                    <a:lumOff val="60000"/>
                  </a:schemeClr>
                </a:solidFill>
                <a:sym typeface="+mn-ea"/>
              </a:rPr>
              <a:t>喵喵喵喵喵喵喵喵喵喵喵喵喵喵喵</a:t>
            </a:r>
          </a:p>
        </p:txBody>
      </p:sp>
      <p:sp>
        <p:nvSpPr>
          <p:cNvPr id="7" name="文本框 6">
            <a:extLst>
              <a:ext uri="{FF2B5EF4-FFF2-40B4-BE49-F238E27FC236}">
                <a16:creationId xmlns:a16="http://schemas.microsoft.com/office/drawing/2014/main" id="{D8556BF9-2699-8510-3ABC-2312DF1F018C}"/>
              </a:ext>
            </a:extLst>
          </p:cNvPr>
          <p:cNvSpPr txBox="1"/>
          <p:nvPr/>
        </p:nvSpPr>
        <p:spPr>
          <a:xfrm>
            <a:off x="2289810" y="6287135"/>
            <a:ext cx="9342120" cy="337185"/>
          </a:xfrm>
          <a:prstGeom prst="rect">
            <a:avLst/>
          </a:prstGeom>
          <a:noFill/>
        </p:spPr>
        <p:txBody>
          <a:bodyPr wrap="square" rtlCol="0">
            <a:spAutoFit/>
          </a:bodyPr>
          <a:lstStyle/>
          <a:p>
            <a:r>
              <a:rPr lang="zh-CN" altLang="en-US" sz="1600">
                <a:solidFill>
                  <a:schemeClr val="accent6">
                    <a:lumMod val="40000"/>
                    <a:lumOff val="60000"/>
                  </a:schemeClr>
                </a:solidFill>
              </a:rPr>
              <a:t>喵喵喵喵喵喵喵喵喵喵喵喵喵喵喵喵喵喵喵喵喵喵</a:t>
            </a:r>
            <a:r>
              <a:rPr lang="zh-CN" altLang="en-US" sz="1600">
                <a:solidFill>
                  <a:schemeClr val="accent6">
                    <a:lumMod val="40000"/>
                    <a:lumOff val="60000"/>
                  </a:schemeClr>
                </a:solidFill>
                <a:sym typeface="+mn-ea"/>
              </a:rPr>
              <a:t>喵喵喵喵喵喵喵喵喵喵喵喵喵喵喵喵喵喵喵喵喵喵喵</a:t>
            </a:r>
          </a:p>
        </p:txBody>
      </p:sp>
    </p:spTree>
    <p:extLst>
      <p:ext uri="{BB962C8B-B14F-4D97-AF65-F5344CB8AC3E}">
        <p14:creationId xmlns:p14="http://schemas.microsoft.com/office/powerpoint/2010/main" val="20842398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2265</Words>
  <Application>Microsoft Office PowerPoint</Application>
  <PresentationFormat>宽屏</PresentationFormat>
  <Paragraphs>112</Paragraphs>
  <Slides>14</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14</vt:i4>
      </vt:variant>
    </vt:vector>
  </HeadingPairs>
  <TitlesOfParts>
    <vt:vector size="17" baseType="lpstr">
      <vt:lpstr>Arial</vt:lpstr>
      <vt:lpstr>Wingdings</vt:lpstr>
      <vt:lpstr>WPS</vt:lpstr>
      <vt:lpstr>萌新培训之</vt:lpstr>
      <vt:lpstr>先来点基础概念</vt:lpstr>
      <vt:lpstr>图的存储——直接存边</vt:lpstr>
      <vt:lpstr>图的存储——邻接矩阵</vt:lpstr>
      <vt:lpstr>图的存储——邻接表</vt:lpstr>
      <vt:lpstr>引入——生成树</vt:lpstr>
      <vt:lpstr>dfs</vt:lpstr>
      <vt:lpstr>dfs 的应用</vt:lpstr>
      <vt:lpstr>引入——最短路</vt:lpstr>
      <vt:lpstr>bfs</vt:lpstr>
      <vt:lpstr>bfs 的应用</vt:lpstr>
      <vt:lpstr>小拓展——建图思考</vt:lpstr>
      <vt:lpstr>还有时间？</vt:lpstr>
      <vt:lpstr>还有时间？</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by d</cp:lastModifiedBy>
  <cp:revision>172</cp:revision>
  <dcterms:created xsi:type="dcterms:W3CDTF">2019-06-19T02:08:00Z</dcterms:created>
  <dcterms:modified xsi:type="dcterms:W3CDTF">2025-11-19T07:41:09Z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6C5E22B6BB3D423A9BDADC0419B848F7_11</vt:lpwstr>
  </property>
</Properties>
</file>