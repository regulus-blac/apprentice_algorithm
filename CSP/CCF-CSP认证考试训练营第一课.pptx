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6" r:id="rId11"/>
    <p:sldId id="267" r:id="rId12"/>
    <p:sldId id="268" r:id="rId13"/>
    <p:sldId id="269" r:id="rId14"/>
    <p:sldId id="274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7F4295F4-07FC-45AD-88A7-2E6726DBD70D}">
          <p14:sldIdLst>
            <p14:sldId id="256"/>
          </p14:sldIdLst>
        </p14:section>
        <p14:section name="CSP认证考试介绍" id="{6F15CD79-1A71-4838-92A2-34AE57B357AD}">
          <p14:sldIdLst>
            <p14:sldId id="257"/>
            <p14:sldId id="258"/>
            <p14:sldId id="259"/>
            <p14:sldId id="260"/>
          </p14:sldIdLst>
        </p14:section>
        <p14:section name="准备工作" id="{E1C9A32E-6E4A-499C-BEF8-5630098631B8}">
          <p14:sldIdLst>
            <p14:sldId id="263"/>
            <p14:sldId id="264"/>
            <p14:sldId id="265"/>
          </p14:sldIdLst>
        </p14:section>
        <p14:section name="必备的C++基础知识" id="{3130C6F7-3924-45D2-BB25-0D52919BD7AB}">
          <p14:sldIdLst>
            <p14:sldId id="261"/>
            <p14:sldId id="266"/>
            <p14:sldId id="267"/>
            <p14:sldId id="268"/>
            <p14:sldId id="269"/>
            <p14:sldId id="274"/>
            <p14:sldId id="270"/>
            <p14:sldId id="271"/>
            <p14:sldId id="273"/>
          </p14:sldIdLst>
        </p14:section>
        <p14:section name="尾言" id="{689F04B9-250D-47C6-ABB9-17794167CBC8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AFB65-20E2-39E1-3A4C-620526B87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5B8595-D021-E0CD-A383-A1D7707F7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A58AB3-B3F0-2466-D9B3-A4AC1E70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E76C02-FAB1-065F-28E6-2E6DC0FE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E39A66-398D-028E-E6FA-032FB175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24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9EC34-F3F4-379D-CB5C-33CEE036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A13D19-34EC-EB18-5CD1-BB6089270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ACCC5-0ACF-850B-7073-B2B49BB6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A5232A-C563-D20A-A874-A732A9EB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6D68F9-E330-47AF-C935-F66CB3B2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61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5BBBD-D3F0-A62F-3400-06EE4737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F28A56-6A01-F92B-F85D-44E0F8E9F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ABCD4-BB5A-5DEA-B839-E9CD0C53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E638FD-289F-578E-1E83-AE91303F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0FB53-38EF-F65D-1997-5F5C1C0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31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4F139-9016-75ED-B9F1-D0756079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ADAE74-2025-C5FA-20B3-629ED32B7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8886C4-F406-741D-1B21-810FCF6B9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CAF4BE-E46B-026B-A0C7-E81BFA8E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73994F-291A-0956-A720-D29B5A0F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80688B-3C42-F74E-E04A-907B2A8D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57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65514-3AF1-CDA3-8B5A-F233AE5A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7F27D4-2C22-ED11-D6AF-FAC189BBC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CAEF9B-E12B-5015-CC24-8856ABEE8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03B1E4-658E-9E3F-35F7-49C789983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E34A05-F1F9-29F7-0327-7390108EC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7C4DE1-F64F-73BC-9C88-184E4F8C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F959F7-D343-D30A-0E0C-ADA32891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B12D48-713B-5C8E-1E62-B294DD09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76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2293C-4861-69DE-33C3-31744984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D53342-E03A-BC81-2CB3-A6D6E416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C9149C-1314-B9F6-241A-59CBA92A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EAB074-34B5-A70E-4F54-DA5242C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8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4A9259-B484-E939-8263-8C7A0EC93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B4BE80-BA2A-EAC3-A1D4-49253AFA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38D02F-50C9-74C3-A851-2D1E5E05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30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80AE9-A363-F868-BF90-68B71340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2CBFAA-BDF6-43D4-2DFD-2C334C978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5E54C0-962C-4BDA-F5D4-1D8BCAB4B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EBCE1F-39F5-036A-D00D-3F55FC4A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0DAAC6-63B9-1790-C454-424DAF0A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DF9293-AD07-501B-F242-833167E6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66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2936B-30A9-5C7D-1FE5-BDEFE8D2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241794-584D-3E49-2AB0-43F04811C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ADA857-ADD6-2736-0CFB-16F4D68FC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268B34-0412-7D28-E876-04C11C41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444A41-7EB5-3C57-A9EC-A7D79BCE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C8DA40-C150-5D9D-3DBA-CA216076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84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453E7-3F6D-8707-6E46-92E20E9C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A51B6D-5538-EAA3-CF74-5E85F449F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B4DBB7-640A-2C22-D0ED-F9CAAB36A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EE65F-0943-B21E-67B3-1523727B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27077-D748-D81C-BCA3-935A7027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0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4780D1-5DB5-F842-508B-B529DB088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45DBC7-637F-19D5-B36B-C10EA16D7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B2888B-6917-141C-5B43-E0BBF642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D07BCC-DDA4-61E0-1438-A47D6D627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B22064-C5A0-55ED-1855-5E6C5F4B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51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584BD0-F909-A798-0035-D6A58F14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AAFD8D-A22F-56AD-DDC5-EC3AD449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1CE47-D0AC-DB4D-AB60-87B0B42EB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4F78-E44E-4CBB-BC4D-B8EBE0F182ED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15D566-7A6B-60FF-7F0A-F8BBEFEB0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D93646-943A-D0F7-5C3E-BB3D7C064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64F48-AEA7-43EF-878D-D94AF8827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66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8CD8A-AA06-4C5A-09B1-650F6E75C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CSP</a:t>
            </a:r>
            <a:r>
              <a:rPr lang="zh-CN" altLang="en-US" dirty="0"/>
              <a:t>认证考试公开课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059EE7-AE57-13A2-9BAC-D9ADD2D43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----</a:t>
            </a:r>
            <a:r>
              <a:rPr lang="zh-CN" altLang="en-US" dirty="0"/>
              <a:t>准备工作和训练计划</a:t>
            </a:r>
          </a:p>
        </p:txBody>
      </p:sp>
    </p:spTree>
    <p:extLst>
      <p:ext uri="{BB962C8B-B14F-4D97-AF65-F5344CB8AC3E}">
        <p14:creationId xmlns:p14="http://schemas.microsoft.com/office/powerpoint/2010/main" val="274916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DDAEE-50A4-DB86-DBC8-513D225F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CSP</a:t>
            </a:r>
            <a:r>
              <a:rPr lang="zh-CN" altLang="en-US" dirty="0"/>
              <a:t>认证考试介绍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66D91-91FD-DA37-B882-F16DF5231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全名叫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是由中国计算机协会举办的一年四次的考试（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月各一次）。</a:t>
            </a:r>
            <a:endParaRPr lang="en-US" altLang="zh-CN" dirty="0"/>
          </a:p>
          <a:p>
            <a:r>
              <a:rPr lang="zh-CN" altLang="en-US" dirty="0"/>
              <a:t>考察选手的数据结构和算法水平，以及代码</a:t>
            </a:r>
            <a:r>
              <a:rPr lang="zh-CN" altLang="en-US"/>
              <a:t>编写能力、知识面。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E582E5-C61D-C8DE-B459-DFBD4607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66" y="2330197"/>
            <a:ext cx="10407534" cy="109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99574-9CBB-7A0B-1641-5F1CA4EE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报考</a:t>
            </a:r>
            <a:r>
              <a:rPr lang="en-US" altLang="zh-CN" dirty="0"/>
              <a:t>CSP</a:t>
            </a:r>
            <a:r>
              <a:rPr lang="zh-CN" altLang="en-US" dirty="0"/>
              <a:t>认证的好处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1ABAE-7722-69EE-DC74-06EABA0DA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华中科技大学计算机学院要求每位学生在本科阶段都要参考，并获得至少</a:t>
            </a:r>
            <a:r>
              <a:rPr lang="en-US" altLang="zh-CN" dirty="0"/>
              <a:t>200</a:t>
            </a:r>
            <a:r>
              <a:rPr lang="zh-CN" altLang="en-US" dirty="0"/>
              <a:t>分的成绩（或者洛谷刷</a:t>
            </a:r>
            <a:r>
              <a:rPr lang="en-US" altLang="zh-CN" dirty="0"/>
              <a:t>150</a:t>
            </a:r>
            <a:r>
              <a:rPr lang="zh-CN" altLang="en-US" dirty="0"/>
              <a:t>道题）。</a:t>
            </a:r>
            <a:endParaRPr lang="en-US" altLang="zh-CN" dirty="0"/>
          </a:p>
          <a:p>
            <a:r>
              <a:rPr lang="zh-CN" altLang="en-US" dirty="0"/>
              <a:t>成绩高于</a:t>
            </a:r>
            <a:r>
              <a:rPr lang="en-US" altLang="zh-CN" dirty="0"/>
              <a:t>150</a:t>
            </a:r>
            <a:r>
              <a:rPr lang="zh-CN" altLang="en-US" dirty="0"/>
              <a:t>分的同学，可以获得竞赛加分（分数</a:t>
            </a:r>
            <a:r>
              <a:rPr lang="en-US" altLang="zh-CN" dirty="0"/>
              <a:t>-150</a:t>
            </a:r>
            <a:r>
              <a:rPr lang="zh-CN" altLang="en-US" dirty="0"/>
              <a:t>）</a:t>
            </a:r>
            <a:r>
              <a:rPr lang="en-US" altLang="zh-CN" dirty="0"/>
              <a:t>*0.1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成绩高于</a:t>
            </a:r>
            <a:r>
              <a:rPr lang="en-US" altLang="zh-CN" dirty="0"/>
              <a:t>300</a:t>
            </a:r>
            <a:r>
              <a:rPr lang="zh-CN" altLang="en-US" dirty="0"/>
              <a:t>分的同学，可以免修算法相关课程并记成绩为</a:t>
            </a:r>
            <a:r>
              <a:rPr lang="en-US" altLang="zh-CN" dirty="0"/>
              <a:t>95</a:t>
            </a:r>
            <a:r>
              <a:rPr lang="zh-CN" altLang="en-US" dirty="0"/>
              <a:t>分。</a:t>
            </a:r>
            <a:endParaRPr lang="en-US" altLang="zh-CN" dirty="0"/>
          </a:p>
          <a:p>
            <a:r>
              <a:rPr lang="zh-CN" altLang="en-US" dirty="0"/>
              <a:t>对于计算机专业的学生来说，数据结构、算法、代码能力都是往后学业和求职绕不开的。借备考</a:t>
            </a:r>
            <a:r>
              <a:rPr lang="en-US" altLang="zh-CN" dirty="0"/>
              <a:t>CSP</a:t>
            </a:r>
            <a:r>
              <a:rPr lang="zh-CN" altLang="en-US" dirty="0"/>
              <a:t>认证考试为契机，提高自己的相关能力，是一件很划算也很有远见的事情。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69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CC47A-05B2-0248-3472-7952B48A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与学校课程的联系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36B48F-8C64-CEF0-99D2-03EC7D80C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CSP</a:t>
            </a:r>
            <a:r>
              <a:rPr lang="zh-CN" altLang="en-US" dirty="0"/>
              <a:t>软件能力认证考试，相对于华科的</a:t>
            </a:r>
            <a:r>
              <a:rPr lang="en-US" altLang="zh-CN" dirty="0"/>
              <a:t>C</a:t>
            </a:r>
            <a:r>
              <a:rPr lang="zh-CN" altLang="en-US" dirty="0"/>
              <a:t>语言、数据结构、算法设计课程三门课程，对知识熟练度有更高的要求，需要同学们能够灵活运用。</a:t>
            </a:r>
            <a:endParaRPr lang="en-US" altLang="zh-CN" dirty="0"/>
          </a:p>
          <a:p>
            <a:r>
              <a:rPr lang="zh-CN" altLang="en-US" dirty="0"/>
              <a:t>若要达到</a:t>
            </a:r>
            <a:r>
              <a:rPr lang="en-US" altLang="zh-CN" dirty="0"/>
              <a:t>300</a:t>
            </a:r>
            <a:r>
              <a:rPr lang="zh-CN" altLang="en-US" dirty="0"/>
              <a:t>分，</a:t>
            </a:r>
            <a:r>
              <a:rPr lang="en-US" altLang="zh-CN" dirty="0"/>
              <a:t> </a:t>
            </a:r>
            <a:r>
              <a:rPr lang="zh-CN" altLang="en-US" dirty="0"/>
              <a:t>需要在学好课内课程的基础上，增加一定的专题练习、真题训练，并掌握一些考试技巧。</a:t>
            </a:r>
            <a:endParaRPr lang="en-US" altLang="zh-CN" dirty="0"/>
          </a:p>
          <a:p>
            <a:r>
              <a:rPr lang="zh-CN" altLang="en-US" dirty="0"/>
              <a:t>若想要取得更高的分数（完成第四题，第五题），则需要投入大量时间学习的课外内容。</a:t>
            </a:r>
          </a:p>
        </p:txBody>
      </p:sp>
    </p:spTree>
    <p:extLst>
      <p:ext uri="{BB962C8B-B14F-4D97-AF65-F5344CB8AC3E}">
        <p14:creationId xmlns:p14="http://schemas.microsoft.com/office/powerpoint/2010/main" val="398542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EF437-17F8-C6DE-C7E4-2A4F1B3E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备考难度评估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CAF1C8-D5E7-1CF4-9F46-B57BC486C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知识点的难度个人认为远远低于</a:t>
            </a:r>
            <a:r>
              <a:rPr lang="en-US" altLang="zh-CN"/>
              <a:t>《</a:t>
            </a:r>
            <a:r>
              <a:rPr lang="zh-CN" altLang="en-US"/>
              <a:t>大</a:t>
            </a:r>
            <a:r>
              <a:rPr lang="zh-CN" altLang="en-US" dirty="0"/>
              <a:t>学物理</a:t>
            </a:r>
            <a:r>
              <a:rPr lang="en-US" altLang="zh-CN" dirty="0"/>
              <a:t>》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备考主要难在不知道学什么东西，做什么题。</a:t>
            </a:r>
            <a:endParaRPr lang="en-US" altLang="zh-CN" dirty="0"/>
          </a:p>
          <a:p>
            <a:r>
              <a:rPr lang="zh-CN" altLang="en-US" dirty="0"/>
              <a:t>备考应更侧重算法与数据结构的应用，所以完成练习题是非常非常必要的。</a:t>
            </a:r>
          </a:p>
        </p:txBody>
      </p:sp>
    </p:spTree>
    <p:extLst>
      <p:ext uri="{BB962C8B-B14F-4D97-AF65-F5344CB8AC3E}">
        <p14:creationId xmlns:p14="http://schemas.microsoft.com/office/powerpoint/2010/main" val="263710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6477B-6C34-ACF9-9E5D-FB1DDA8D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目前的知识清理文档（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BBF55-10AD-3ECE-9E94-4BCE7B257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FFD014-400D-0CC3-C05A-DAEBF3CB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5" y="1906386"/>
            <a:ext cx="2910411" cy="37490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388F2C2-1389-A984-2952-7201D8807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055" y="1950721"/>
            <a:ext cx="4617111" cy="37989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9684D1C-0155-AF3D-F48F-0CCFBA417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984" y="1825625"/>
            <a:ext cx="4112998" cy="464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1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F64DE-A110-264E-BE93-818955EF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目前的知识清理文档（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5FFED7-F48A-7120-DCCE-77C127B8B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19E400-0848-14E9-8D24-B7BA7D1E8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447874" cy="44805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982DFF-2663-4754-1B00-651C05ABA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12" y="1584556"/>
            <a:ext cx="6116307" cy="496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9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884C-6AE9-3F13-5604-3454FD622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涉及到的专题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E2C811-F157-D5E0-C975-EEC37A8FE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二分查找与二分答案</a:t>
            </a:r>
            <a:endParaRPr lang="en-US" altLang="zh-CN" dirty="0"/>
          </a:p>
          <a:p>
            <a:r>
              <a:rPr lang="zh-CN" altLang="en-US" dirty="0"/>
              <a:t>差分和前缀和</a:t>
            </a:r>
            <a:endParaRPr lang="en-US" altLang="zh-CN" dirty="0"/>
          </a:p>
          <a:p>
            <a:r>
              <a:rPr lang="zh-CN" altLang="en-US" dirty="0"/>
              <a:t>重载运算符、多关键字排序</a:t>
            </a:r>
            <a:endParaRPr lang="en-US" altLang="zh-CN" dirty="0"/>
          </a:p>
          <a:p>
            <a:r>
              <a:rPr lang="en-US" altLang="zh-CN" dirty="0"/>
              <a:t>C++</a:t>
            </a:r>
            <a:r>
              <a:rPr lang="zh-CN" altLang="en-US" dirty="0"/>
              <a:t>中的</a:t>
            </a:r>
            <a:r>
              <a:rPr lang="en-US" altLang="zh-CN" dirty="0"/>
              <a:t>STL</a:t>
            </a:r>
          </a:p>
          <a:p>
            <a:r>
              <a:rPr lang="zh-CN" altLang="en-US" dirty="0"/>
              <a:t>成为字符串高手</a:t>
            </a:r>
            <a:endParaRPr lang="en-US" altLang="zh-CN" dirty="0"/>
          </a:p>
          <a:p>
            <a:r>
              <a:rPr lang="zh-CN" altLang="en-US" dirty="0"/>
              <a:t>双指针</a:t>
            </a:r>
            <a:endParaRPr lang="en-US" altLang="zh-CN" dirty="0"/>
          </a:p>
          <a:p>
            <a:r>
              <a:rPr lang="zh-CN" altLang="en-US" dirty="0"/>
              <a:t>简单线性</a:t>
            </a:r>
            <a:r>
              <a:rPr lang="en-US" altLang="zh-CN" dirty="0" err="1"/>
              <a:t>dp</a:t>
            </a:r>
            <a:endParaRPr lang="en-US" altLang="zh-CN" dirty="0"/>
          </a:p>
          <a:p>
            <a:r>
              <a:rPr lang="zh-CN" altLang="en-US" dirty="0"/>
              <a:t>背包问题</a:t>
            </a:r>
            <a:endParaRPr lang="en-US" altLang="zh-CN" dirty="0"/>
          </a:p>
          <a:p>
            <a:r>
              <a:rPr lang="zh-CN" altLang="en-US" dirty="0"/>
              <a:t>简单的贪心</a:t>
            </a:r>
            <a:endParaRPr lang="en-US" altLang="zh-CN" dirty="0"/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282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8F137-15B3-460F-1686-614CFC38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222BB-BCF3-37BD-F316-516A9A98B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为了方便使用各种强大的库函数，培训过程将会使用</a:t>
            </a:r>
            <a:r>
              <a:rPr lang="en-US" altLang="zh-CN" dirty="0"/>
              <a:t>C++</a:t>
            </a:r>
            <a:r>
              <a:rPr lang="zh-CN" altLang="en-US" dirty="0"/>
              <a:t>。不过，整体而言还是以</a:t>
            </a:r>
            <a:r>
              <a:rPr lang="en-US" altLang="zh-CN" dirty="0"/>
              <a:t>C</a:t>
            </a:r>
            <a:r>
              <a:rPr lang="zh-CN" altLang="en-US" dirty="0"/>
              <a:t>语言的风格为主，没有接触过</a:t>
            </a:r>
            <a:r>
              <a:rPr lang="en-US" altLang="zh-CN" dirty="0"/>
              <a:t>C++</a:t>
            </a:r>
            <a:r>
              <a:rPr lang="zh-CN" altLang="en-US" dirty="0"/>
              <a:t>的朋友不必担心。</a:t>
            </a:r>
            <a:endParaRPr lang="en-US" altLang="zh-CN" dirty="0"/>
          </a:p>
          <a:p>
            <a:r>
              <a:rPr lang="zh-CN" altLang="en-US" dirty="0"/>
              <a:t>编辑器用</a:t>
            </a:r>
            <a:r>
              <a:rPr lang="en-US" altLang="zh-CN" dirty="0" err="1"/>
              <a:t>DevC</a:t>
            </a:r>
            <a:r>
              <a:rPr lang="en-US" altLang="zh-CN" dirty="0"/>
              <a:t>++5.11</a:t>
            </a:r>
            <a:r>
              <a:rPr lang="zh-CN" altLang="en-US" dirty="0"/>
              <a:t>即可。（文件后缀名改用</a:t>
            </a:r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，设置一下编译器）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ACD39-7704-7693-2E59-6F05FFB2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732" y="3529814"/>
            <a:ext cx="1269246" cy="1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2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16B2B-A5BA-0E7A-4E85-C3E02B10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我们主要会用到的</a:t>
            </a:r>
            <a:r>
              <a:rPr lang="en-US" altLang="zh-CN" dirty="0"/>
              <a:t>C++</a:t>
            </a:r>
            <a:r>
              <a:rPr lang="zh-CN" altLang="en-US" dirty="0"/>
              <a:t>的东西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9BD98F-6256-C128-6930-1775750C3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标准库（</a:t>
            </a:r>
            <a:r>
              <a:rPr lang="en-US" altLang="zh-CN" dirty="0"/>
              <a:t>STL</a:t>
            </a:r>
            <a:r>
              <a:rPr lang="zh-CN" altLang="en-US" dirty="0"/>
              <a:t>）：</a:t>
            </a:r>
            <a:r>
              <a:rPr lang="en-US" altLang="zh-CN" dirty="0"/>
              <a:t>C++</a:t>
            </a:r>
            <a:r>
              <a:rPr lang="zh-CN" altLang="en-US" dirty="0"/>
              <a:t>库帮你实现的方法或数据结构，如排序、二分等等。更多强大的功能，将会在后续课程讲解。</a:t>
            </a:r>
            <a:endParaRPr lang="en-US" altLang="zh-CN" dirty="0"/>
          </a:p>
          <a:p>
            <a:r>
              <a:rPr lang="zh-CN" altLang="en-US" dirty="0"/>
              <a:t>重载运算符、类方法：</a:t>
            </a:r>
            <a:r>
              <a:rPr lang="en-US" altLang="zh-CN" dirty="0"/>
              <a:t>C++</a:t>
            </a:r>
            <a:r>
              <a:rPr lang="zh-CN" altLang="en-US" dirty="0"/>
              <a:t>的</a:t>
            </a:r>
            <a:r>
              <a:rPr lang="en-US" altLang="zh-CN" dirty="0"/>
              <a:t>struct</a:t>
            </a:r>
            <a:r>
              <a:rPr lang="zh-CN" altLang="en-US" dirty="0"/>
              <a:t>内部可以定义函数，定义运算等。</a:t>
            </a:r>
            <a:endParaRPr lang="en-US" altLang="zh-CN" dirty="0"/>
          </a:p>
          <a:p>
            <a:r>
              <a:rPr lang="en-US" altLang="zh-CN" dirty="0"/>
              <a:t>Bool</a:t>
            </a:r>
            <a:r>
              <a:rPr lang="zh-CN" altLang="en-US" dirty="0"/>
              <a:t>类型：表示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有了专门的数据类型，不用再使用</a:t>
            </a:r>
            <a:r>
              <a:rPr lang="en-US" altLang="zh-CN" dirty="0"/>
              <a:t>int</a:t>
            </a:r>
            <a:r>
              <a:rPr lang="zh-CN" altLang="en-US" dirty="0"/>
              <a:t>了（</a:t>
            </a:r>
            <a:r>
              <a:rPr lang="en-US" altLang="zh-CN" dirty="0"/>
              <a:t>C</a:t>
            </a:r>
            <a:r>
              <a:rPr lang="zh-CN" altLang="en-US" dirty="0"/>
              <a:t>语言的方式）。</a:t>
            </a:r>
            <a:endParaRPr lang="en-US" altLang="zh-CN" dirty="0"/>
          </a:p>
          <a:p>
            <a:r>
              <a:rPr lang="zh-CN" altLang="en-US" dirty="0"/>
              <a:t>名字空间：一种用于解决命名冲突的机制，了解即可。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710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7A817-E1BE-7E93-408E-9F3CA6D4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简要介绍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0F2850-D536-3463-EBA9-F5FB94F21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我们来通过一些简单的示例来认识</a:t>
            </a:r>
            <a:r>
              <a:rPr lang="en-US" altLang="zh-CN" dirty="0"/>
              <a:t>C++</a:t>
            </a:r>
            <a:r>
              <a:rPr lang="zh-CN" altLang="en-US" dirty="0"/>
              <a:t>相对于</a:t>
            </a:r>
            <a:r>
              <a:rPr lang="en-US" altLang="zh-CN" dirty="0"/>
              <a:t>C</a:t>
            </a:r>
            <a:r>
              <a:rPr lang="zh-CN" altLang="en-US" dirty="0"/>
              <a:t>的额外功能。</a:t>
            </a:r>
          </a:p>
        </p:txBody>
      </p:sp>
    </p:spTree>
    <p:extLst>
      <p:ext uri="{BB962C8B-B14F-4D97-AF65-F5344CB8AC3E}">
        <p14:creationId xmlns:p14="http://schemas.microsoft.com/office/powerpoint/2010/main" val="211062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DC454-FC19-6CAE-2858-67ABDB8C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92257-D23E-0860-959C-CE5D1500C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343" y="1500505"/>
            <a:ext cx="10515600" cy="269557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头文件和</a:t>
            </a:r>
            <a:r>
              <a:rPr lang="en-US" altLang="zh-CN" dirty="0"/>
              <a:t>C</a:t>
            </a:r>
            <a:r>
              <a:rPr lang="zh-CN" altLang="en-US" dirty="0"/>
              <a:t>有些许区别。</a:t>
            </a:r>
            <a:endParaRPr lang="en-US" altLang="zh-CN" dirty="0"/>
          </a:p>
          <a:p>
            <a:r>
              <a:rPr lang="zh-CN" altLang="en-US" dirty="0"/>
              <a:t>这两份代码都调用</a:t>
            </a:r>
            <a:r>
              <a:rPr lang="en-US" altLang="zh-CN" dirty="0"/>
              <a:t>STL</a:t>
            </a:r>
            <a:r>
              <a:rPr lang="zh-CN" altLang="en-US" dirty="0"/>
              <a:t>中的</a:t>
            </a:r>
            <a:r>
              <a:rPr lang="en-US" altLang="zh-CN" dirty="0"/>
              <a:t>sort</a:t>
            </a:r>
            <a:r>
              <a:rPr lang="zh-CN" altLang="en-US" dirty="0"/>
              <a:t>函数对数组进行了排序。</a:t>
            </a:r>
            <a:endParaRPr lang="en-US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sort</a:t>
            </a:r>
            <a:r>
              <a:rPr lang="zh-CN" altLang="en-US" dirty="0"/>
              <a:t>属于的名字空间为</a:t>
            </a:r>
            <a:r>
              <a:rPr lang="en-US" altLang="zh-CN" dirty="0"/>
              <a:t>std</a:t>
            </a:r>
            <a:r>
              <a:rPr lang="zh-CN" altLang="en-US" dirty="0"/>
              <a:t>（</a:t>
            </a:r>
            <a:r>
              <a:rPr lang="en-US" altLang="zh-CN" dirty="0"/>
              <a:t>standard</a:t>
            </a:r>
            <a:r>
              <a:rPr lang="zh-CN" altLang="en-US" dirty="0"/>
              <a:t>缩写），在使用时候要加上</a:t>
            </a:r>
            <a:r>
              <a:rPr lang="en-US" altLang="zh-CN" dirty="0"/>
              <a:t>std::</a:t>
            </a:r>
            <a:r>
              <a:rPr lang="zh-CN" altLang="en-US" dirty="0"/>
              <a:t>。</a:t>
            </a:r>
            <a:r>
              <a:rPr lang="en-US" altLang="zh-CN" dirty="0"/>
              <a:t>sort</a:t>
            </a:r>
            <a:r>
              <a:rPr lang="zh-CN" altLang="en-US" dirty="0"/>
              <a:t>在</a:t>
            </a:r>
            <a:r>
              <a:rPr lang="en-US" altLang="zh-CN" dirty="0"/>
              <a:t>&lt;algorithm&gt;</a:t>
            </a:r>
            <a:r>
              <a:rPr lang="zh-CN" altLang="en-US" dirty="0"/>
              <a:t>这个头文件下面。</a:t>
            </a:r>
            <a:endParaRPr lang="en-US" altLang="zh-CN" dirty="0"/>
          </a:p>
          <a:p>
            <a:r>
              <a:rPr lang="zh-CN" altLang="en-US" dirty="0"/>
              <a:t>如果用了</a:t>
            </a:r>
            <a:r>
              <a:rPr lang="en-US" altLang="zh-CN" dirty="0"/>
              <a:t>using namespace std</a:t>
            </a:r>
            <a:r>
              <a:rPr lang="zh-CN" altLang="en-US" dirty="0"/>
              <a:t>，则默认后续代码的变量</a:t>
            </a:r>
            <a:r>
              <a:rPr lang="en-US" altLang="zh-CN" dirty="0"/>
              <a:t>/</a:t>
            </a:r>
            <a:r>
              <a:rPr lang="zh-CN" altLang="en-US" dirty="0"/>
              <a:t>函数名称在</a:t>
            </a:r>
            <a:r>
              <a:rPr lang="en-US" altLang="zh-CN" dirty="0"/>
              <a:t>std</a:t>
            </a:r>
            <a:r>
              <a:rPr lang="zh-CN" altLang="en-US" dirty="0"/>
              <a:t>这个名字空间下面。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356A12-2662-CCC8-B2C0-EE02CF58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43" y="4467639"/>
            <a:ext cx="4486472" cy="16345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A153EA-9023-9CF6-3E2F-7025D0970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272" y="4467639"/>
            <a:ext cx="4099560" cy="168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5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06EB8-161A-CD32-1BC9-161F4862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F6281-38F8-B36D-6350-FEC1DAD30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bool</a:t>
            </a:r>
            <a:r>
              <a:rPr lang="zh-CN" altLang="en-US" dirty="0"/>
              <a:t>类型，</a:t>
            </a:r>
            <a:r>
              <a:rPr lang="en-US" altLang="zh-CN" dirty="0"/>
              <a:t>1</a:t>
            </a:r>
            <a:r>
              <a:rPr lang="zh-CN" altLang="en-US" dirty="0"/>
              <a:t>字节（</a:t>
            </a:r>
            <a:r>
              <a:rPr lang="en-US" altLang="zh-CN" dirty="0"/>
              <a:t>8</a:t>
            </a:r>
            <a:r>
              <a:rPr lang="zh-CN" altLang="en-US" dirty="0"/>
              <a:t>位）。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A1527A-B58D-C643-928F-91C49D440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11" y="2499692"/>
            <a:ext cx="3991448" cy="358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3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2012B-776D-FA1F-DC9E-EC12D220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38220-9A5E-7F08-321B-B2B0BD1B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std::</a:t>
            </a:r>
            <a:r>
              <a:rPr lang="en-US" altLang="zh-CN" dirty="0" err="1"/>
              <a:t>cin</a:t>
            </a:r>
            <a:r>
              <a:rPr lang="zh-CN" altLang="en-US" dirty="0"/>
              <a:t>、</a:t>
            </a:r>
            <a:r>
              <a:rPr lang="en-US" altLang="zh-CN" dirty="0"/>
              <a:t>std::</a:t>
            </a:r>
            <a:r>
              <a:rPr lang="en-US" altLang="zh-CN" dirty="0" err="1"/>
              <a:t>cout</a:t>
            </a:r>
            <a:r>
              <a:rPr lang="zh-CN" altLang="en-US" dirty="0"/>
              <a:t>是</a:t>
            </a:r>
            <a:r>
              <a:rPr lang="en-US" altLang="zh-CN" dirty="0"/>
              <a:t>C++</a:t>
            </a:r>
            <a:r>
              <a:rPr lang="zh-CN" altLang="en-US" dirty="0"/>
              <a:t>提供的输入输出方式。</a:t>
            </a:r>
            <a:endParaRPr lang="en-US" altLang="zh-CN" dirty="0"/>
          </a:p>
          <a:p>
            <a:r>
              <a:rPr lang="zh-CN" altLang="en-US" dirty="0"/>
              <a:t>它能识别数据类型。</a:t>
            </a:r>
            <a:endParaRPr lang="en-US" altLang="zh-CN" dirty="0"/>
          </a:p>
          <a:p>
            <a:r>
              <a:rPr lang="en-US" altLang="zh-CN" dirty="0"/>
              <a:t>std::</a:t>
            </a:r>
            <a:r>
              <a:rPr lang="en-US" altLang="zh-CN" dirty="0" err="1"/>
              <a:t>endl</a:t>
            </a:r>
            <a:r>
              <a:rPr lang="zh-CN" altLang="en-US" dirty="0"/>
              <a:t>相当于回车。</a:t>
            </a:r>
            <a:endParaRPr lang="en-US" altLang="zh-CN" dirty="0"/>
          </a:p>
          <a:p>
            <a:r>
              <a:rPr lang="en-US" altLang="zh-CN" dirty="0" err="1"/>
              <a:t>cin</a:t>
            </a:r>
            <a:r>
              <a:rPr lang="zh-CN" altLang="en-US" dirty="0"/>
              <a:t>在读入到文件结束表示时候会返回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作为对比，</a:t>
            </a:r>
            <a:r>
              <a:rPr lang="en-US" altLang="zh-CN" dirty="0" err="1"/>
              <a:t>scanf</a:t>
            </a:r>
            <a:r>
              <a:rPr lang="zh-CN" altLang="en-US" dirty="0"/>
              <a:t>在读入到文件结束表示时候会返回</a:t>
            </a:r>
            <a:r>
              <a:rPr lang="en-US" altLang="zh-CN" dirty="0"/>
              <a:t>EOF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45A2FA7-B507-B803-22C1-D637F20E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75" y="4278796"/>
            <a:ext cx="5291001" cy="186295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CD2865-24A8-8984-A5FB-040B7A86E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448" y="5052760"/>
            <a:ext cx="5130157" cy="11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0600C-0E90-A560-8CA3-A63B4199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2C36A7-5DED-EC59-6BCE-9CCF664FD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展示</a:t>
            </a:r>
            <a:r>
              <a:rPr lang="en-US" altLang="zh-CN" dirty="0"/>
              <a:t>STL</a:t>
            </a:r>
            <a:r>
              <a:rPr lang="zh-CN" altLang="en-US" dirty="0"/>
              <a:t>提供的</a:t>
            </a:r>
            <a:r>
              <a:rPr lang="en-US" altLang="zh-CN" dirty="0"/>
              <a:t>pair</a:t>
            </a:r>
            <a:r>
              <a:rPr lang="zh-CN" altLang="en-US" dirty="0"/>
              <a:t>数据类型，作用是将两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个数打包成一个二元组。</a:t>
            </a:r>
            <a:endParaRPr lang="en-US" altLang="zh-CN" dirty="0"/>
          </a:p>
          <a:p>
            <a:r>
              <a:rPr lang="en-US" altLang="zh-CN" dirty="0"/>
              <a:t>A,B,C</a:t>
            </a:r>
            <a:r>
              <a:rPr lang="zh-CN" altLang="en-US" dirty="0"/>
              <a:t>分别展示了三种不同的赋值方式。</a:t>
            </a:r>
            <a:endParaRPr lang="en-US" altLang="zh-CN" dirty="0"/>
          </a:p>
          <a:p>
            <a:r>
              <a:rPr lang="zh-CN" altLang="en-US" dirty="0"/>
              <a:t>可以通过</a:t>
            </a:r>
            <a:r>
              <a:rPr lang="en-US" altLang="zh-CN" dirty="0"/>
              <a:t>.first</a:t>
            </a:r>
            <a:r>
              <a:rPr lang="zh-CN" altLang="en-US" dirty="0"/>
              <a:t>，</a:t>
            </a:r>
            <a:r>
              <a:rPr lang="en-US" altLang="zh-CN" dirty="0"/>
              <a:t>.second</a:t>
            </a:r>
            <a:r>
              <a:rPr lang="zh-CN" altLang="en-US" dirty="0"/>
              <a:t>访问两个元素。</a:t>
            </a:r>
            <a:endParaRPr lang="en-US" altLang="zh-CN" dirty="0"/>
          </a:p>
          <a:p>
            <a:r>
              <a:rPr lang="zh-CN" altLang="en-US" dirty="0"/>
              <a:t>该数据类型可以比较大小，就和</a:t>
            </a:r>
            <a:r>
              <a:rPr lang="en-US" altLang="zh-CN" dirty="0"/>
              <a:t>int</a:t>
            </a:r>
            <a:r>
              <a:rPr lang="zh-CN" altLang="en-US" dirty="0"/>
              <a:t>、</a:t>
            </a:r>
            <a:r>
              <a:rPr lang="en-US" altLang="zh-CN" dirty="0"/>
              <a:t>double</a:t>
            </a:r>
            <a:r>
              <a:rPr lang="zh-CN" altLang="en-US" dirty="0"/>
              <a:t>、</a:t>
            </a:r>
            <a:r>
              <a:rPr lang="en-US" altLang="zh-CN" dirty="0"/>
              <a:t>long </a:t>
            </a:r>
            <a:r>
              <a:rPr lang="zh-CN" altLang="en-US" dirty="0"/>
              <a:t>等</a:t>
            </a:r>
            <a:r>
              <a:rPr lang="en-US" altLang="zh-CN" dirty="0"/>
              <a:t>C</a:t>
            </a:r>
            <a:r>
              <a:rPr lang="zh-CN" altLang="en-US" dirty="0"/>
              <a:t>语言提供的数据类型一样。比较规则？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541A8C-99C0-57AC-A34F-2D8978867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400" y="86141"/>
            <a:ext cx="3529400" cy="32090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9403E30-2DD1-FD1B-D490-564FA5677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581" y="4928362"/>
            <a:ext cx="5075419" cy="124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36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70B33-FE57-83B4-B3F3-DB8ED1FC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94D74-38AF-0186-7920-55123F5FC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手动实现了一个和</a:t>
            </a:r>
            <a:r>
              <a:rPr lang="en-US" altLang="zh-CN" dirty="0"/>
              <a:t>std::pair&lt;</a:t>
            </a:r>
            <a:r>
              <a:rPr lang="en-US" altLang="zh-CN" dirty="0" err="1"/>
              <a:t>int,int</a:t>
            </a:r>
            <a:r>
              <a:rPr lang="en-US" altLang="zh-CN" dirty="0"/>
              <a:t>&gt;</a:t>
            </a:r>
            <a:r>
              <a:rPr lang="zh-CN" altLang="en-US" dirty="0"/>
              <a:t>功能相仿的</a:t>
            </a:r>
            <a:r>
              <a:rPr lang="en-US" altLang="zh-CN" dirty="0" err="1"/>
              <a:t>diy_pair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C++</a:t>
            </a:r>
            <a:r>
              <a:rPr lang="zh-CN" altLang="en-US" dirty="0"/>
              <a:t>的</a:t>
            </a:r>
            <a:r>
              <a:rPr lang="en-US" altLang="zh-CN" dirty="0"/>
              <a:t>struct</a:t>
            </a:r>
            <a:r>
              <a:rPr lang="zh-CN" altLang="en-US" dirty="0"/>
              <a:t>内部可以定义一些新东西。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9F2928-A019-91E5-415F-C4FE5070B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830" y="2992726"/>
            <a:ext cx="4182717" cy="29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7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BE6AD-AA77-5CCD-9C5E-139F579F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万能头文件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2F267E-36F4-D2F1-4F91-EBDA0CE90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不同的库函数要用不同的头文件，记不住怎么办？</a:t>
            </a:r>
            <a:endParaRPr lang="en-US" altLang="zh-CN" dirty="0"/>
          </a:p>
          <a:p>
            <a:r>
              <a:rPr lang="zh-CN" altLang="en-US" dirty="0"/>
              <a:t>可以使用</a:t>
            </a:r>
            <a:r>
              <a:rPr lang="en-US" altLang="zh-CN" dirty="0"/>
              <a:t>&lt;bits/</a:t>
            </a:r>
            <a:r>
              <a:rPr lang="en-US" altLang="zh-CN" dirty="0" err="1"/>
              <a:t>stdc</a:t>
            </a:r>
            <a:r>
              <a:rPr lang="en-US" altLang="zh-CN" dirty="0"/>
              <a:t>++.h&gt;</a:t>
            </a:r>
            <a:r>
              <a:rPr lang="zh-CN" altLang="en-US" dirty="0"/>
              <a:t>，其包含所有头文件的内容。</a:t>
            </a:r>
          </a:p>
        </p:txBody>
      </p:sp>
    </p:spTree>
    <p:extLst>
      <p:ext uri="{BB962C8B-B14F-4D97-AF65-F5344CB8AC3E}">
        <p14:creationId xmlns:p14="http://schemas.microsoft.com/office/powerpoint/2010/main" val="110212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0E4A8-C698-7CC6-3935-6252ED7E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写在最后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B80F6-6798-C938-FFF5-063FE0292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更多实用的编程知识将在后续课程中解锁。</a:t>
            </a:r>
          </a:p>
        </p:txBody>
      </p:sp>
    </p:spTree>
    <p:extLst>
      <p:ext uri="{BB962C8B-B14F-4D97-AF65-F5344CB8AC3E}">
        <p14:creationId xmlns:p14="http://schemas.microsoft.com/office/powerpoint/2010/main" val="667866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873</Words>
  <Application>Microsoft Office PowerPoint</Application>
  <PresentationFormat>宽屏</PresentationFormat>
  <Paragraphs>72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CSP认证考试公开课</vt:lpstr>
      <vt:lpstr>CSP认证考试介绍</vt:lpstr>
      <vt:lpstr>报考CSP认证的好处</vt:lpstr>
      <vt:lpstr>与学校课程的联系</vt:lpstr>
      <vt:lpstr>备考难度评估</vt:lpstr>
      <vt:lpstr>目前的知识清理文档（1）</vt:lpstr>
      <vt:lpstr>目前的知识清理文档（2）</vt:lpstr>
      <vt:lpstr>涉及到的专题</vt:lpstr>
      <vt:lpstr>说明</vt:lpstr>
      <vt:lpstr>我们主要会用到的C++的东西</vt:lpstr>
      <vt:lpstr>简要介绍</vt:lpstr>
      <vt:lpstr>示例一</vt:lpstr>
      <vt:lpstr>示例二</vt:lpstr>
      <vt:lpstr>示例三</vt:lpstr>
      <vt:lpstr>示例四</vt:lpstr>
      <vt:lpstr>示例五</vt:lpstr>
      <vt:lpstr>万能头文件</vt:lpstr>
      <vt:lpstr>写在最后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69</cp:revision>
  <dcterms:created xsi:type="dcterms:W3CDTF">2025-08-27T04:28:16Z</dcterms:created>
  <dcterms:modified xsi:type="dcterms:W3CDTF">2025-11-17T13:51:31Z</dcterms:modified>
</cp:coreProperties>
</file>