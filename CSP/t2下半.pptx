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5" r:id="rId14"/>
    <p:sldId id="272" r:id="rId15"/>
    <p:sldId id="273" r:id="rId16"/>
    <p:sldId id="274" r:id="rId17"/>
    <p:sldId id="269" r:id="rId18"/>
    <p:sldId id="270" r:id="rId19"/>
    <p:sldId id="275" r:id="rId20"/>
    <p:sldId id="271" r:id="rId21"/>
    <p:sldId id="277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" id="{134FAD38-05A1-45A3-8B66-01CD63308C22}">
          <p14:sldIdLst>
            <p14:sldId id="276"/>
          </p14:sldIdLst>
        </p14:section>
        <p14:section name="垦田计划" id="{A8358500-7DFC-4357-8334-E5ADBE160E6F}">
          <p14:sldIdLst>
            <p14:sldId id="257"/>
            <p14:sldId id="258"/>
            <p14:sldId id="259"/>
          </p14:sldIdLst>
        </p14:section>
        <p14:section name="相似度计算" id="{DAF45D56-040A-4EF0-8B92-03F790138360}">
          <p14:sldIdLst>
            <p14:sldId id="260"/>
            <p14:sldId id="261"/>
            <p14:sldId id="262"/>
          </p14:sldIdLst>
        </p14:section>
        <p14:section name="梦境巡查" id="{1DD71B87-07D3-4E08-96D7-B2DC18B5965F}">
          <p14:sldIdLst>
            <p14:sldId id="263"/>
            <p14:sldId id="264"/>
            <p14:sldId id="266"/>
            <p14:sldId id="267"/>
            <p14:sldId id="268"/>
            <p14:sldId id="265"/>
          </p14:sldIdLst>
        </p14:section>
        <p14:section name="机器人复健指南" id="{1384EF6B-ECA3-434E-92E8-DBC6A39ABB52}">
          <p14:sldIdLst>
            <p14:sldId id="272"/>
            <p14:sldId id="273"/>
            <p14:sldId id="274"/>
          </p14:sldIdLst>
        </p14:section>
        <p14:section name="机器人饲养指南" id="{3F6C1ED9-0DBE-44A3-A028-E08A336CEBF1}">
          <p14:sldIdLst>
            <p14:sldId id="269"/>
            <p14:sldId id="270"/>
            <p14:sldId id="275"/>
            <p14:sldId id="271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213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E218E2-1119-AAB3-1D26-F459AACBC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52CBB2-FFE6-BC81-E567-98F95C590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5523E9-A330-F52F-AB71-DC50BCB5A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396A1-5699-40B0-89D5-8AA739FAD866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C75D33-06DD-5945-083E-C22362FA3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01485B-85C6-8929-F8D2-7651C4241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9DC8-EA99-4FA1-9385-E010D96EF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409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943C57-65F1-0988-AC97-944455AE7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912FD2-8EF3-4342-3720-DBEC81BAB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1D6D29-17D2-FF40-2C24-EF48E4898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396A1-5699-40B0-89D5-8AA739FAD866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C6F3BB-3B00-7EE2-B8C9-843C1B6DC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06C235-3D03-F923-299C-CBFD82E73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9DC8-EA99-4FA1-9385-E010D96EF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961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88C15D-3679-95B2-6602-F8E96354B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BABEDE-6507-FD3C-65B7-D8BDBD2A9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6B105F-DF92-3AC5-D47E-C131FB585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396A1-5699-40B0-89D5-8AA739FAD866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9C1913-3867-F10E-FCEF-1F53DEC68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C65E47-D9ED-C77B-20F0-91DE97439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9DC8-EA99-4FA1-9385-E010D96EF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461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7878DB-7CEC-6FF6-0A3D-395C279B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4EAF00-733D-3A78-24F0-BA0E6120D9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424D86-0AF5-2217-2104-9D0CBFBF1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D75367-9522-0C1F-005D-2FD8EAB4C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396A1-5699-40B0-89D5-8AA739FAD866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27FDF3-95F7-714B-892D-CC49D7114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E601B5-6BFC-FE74-56F2-DECFE4D1E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9DC8-EA99-4FA1-9385-E010D96EF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6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6F1131-003E-9C65-E7B6-BBEF8635F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5D5CFF-3737-41D6-3243-7CB196FC9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AD9008-EE86-47F6-83CB-AA59C828F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D066E77-C4D9-B003-4712-DD1DBB7B32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949DEFC-56DF-138A-E605-20794573ED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C8F3F34-5CD4-A5E7-B6A1-2888AF23E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396A1-5699-40B0-89D5-8AA739FAD866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189C9AA-00EF-72C6-F0AE-1B4DBAF4B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8F5EE0C-BD90-FBC3-713A-94722ED26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9DC8-EA99-4FA1-9385-E010D96EF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334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06E8CD-AE0A-E9BB-EF5D-904CFCF99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1CDFF5D-8E71-DD7C-9F13-7F735693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396A1-5699-40B0-89D5-8AA739FAD866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5A8BB57-4AC5-2A7F-DDC4-7C18EF35A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446F44-263B-1FE5-AF26-243571B38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9DC8-EA99-4FA1-9385-E010D96EF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25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DCD8D0C-CB68-DC54-09BD-00502A17B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396A1-5699-40B0-89D5-8AA739FAD866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CEE2A1-50AA-0F99-F260-FA2E152C5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91AFFF-A5DA-99F2-744C-1D4B35123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9DC8-EA99-4FA1-9385-E010D96EF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796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8BDDDA-8018-ABB0-24E8-561A0CDCE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1E8B3C-5C56-E911-5036-9C95B2065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BCF23A-DD09-EE55-72B3-9C51F6AB9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E711F7-28A8-6031-5368-E87B61936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396A1-5699-40B0-89D5-8AA739FAD866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9917A6-6908-7E9D-7E83-7AD8F45A6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D3F2C8-7129-3A05-10A4-3F2A5C63E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9DC8-EA99-4FA1-9385-E010D96EF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4238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37AD90-66C7-6C56-C017-CF743AD57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DA7C5F8-60E4-A826-69DC-0EDE870551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EC850A-915F-4EF7-C35C-B3EE598A6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4969C9-9E4B-AC99-55A8-C0ED460E2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396A1-5699-40B0-89D5-8AA739FAD866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FB5557-6297-0E32-02DD-EC6CA5321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865463-4153-E074-9AFF-F67D3A14A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9DC8-EA99-4FA1-9385-E010D96EF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394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0D258-FEF1-DC94-A8ED-9EDE976EC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76311D-9F53-D5DE-1C4A-8FA349483B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457B2D-A015-5950-3245-34F51D1B3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396A1-5699-40B0-89D5-8AA739FAD866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9AC73C-B6AE-EE2C-0A7F-49A9706DD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546E6C-3992-59DB-883F-C3FA016A9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9DC8-EA99-4FA1-9385-E010D96EF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702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E7CBC40-13E3-E426-C2DA-474C3E39F1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8BFDA5-608F-23F4-E6D4-8AA6C1E9A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DB560C-AA25-AC44-9BC5-2E600615B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396A1-5699-40B0-89D5-8AA739FAD866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DBA5A3-45BD-CE6B-F3EF-4A2A16AFB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D25D39-EF25-ED70-588C-B78F77E22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9DC8-EA99-4FA1-9385-E010D96EF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215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EC0B9D4-AD96-5034-E79B-0FB2E035D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8F58C1-17AA-299B-B2BE-F5A12249B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465896-AC20-040D-DB44-9C5B78ADD3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396A1-5699-40B0-89D5-8AA739FAD866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DDE833-FC79-0684-3343-A3420752B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8A5537-5D16-FF97-7584-9F8299ED6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D9DC8-EA99-4FA1-9385-E010D96EF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885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acwing.com/problem/content/5020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acwing.com/problem/content/description/5723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im.csp.thusaac.com/contest/36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sim.csp.thusaac.com/contest/38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sim.csp.thusaac.com/contest/37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3E3ADD-8FFA-E0DD-F29B-554A36CA6F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CCF-CSP</a:t>
            </a:r>
            <a:r>
              <a:rPr lang="zh-CN" altLang="en-US" dirty="0"/>
              <a:t>第二题选讲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A32628F-D03B-AAC5-7D5B-5E5828F13D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							</a:t>
            </a:r>
            <a:r>
              <a:rPr lang="zh-CN" altLang="en-US" dirty="0"/>
              <a:t>智科</a:t>
            </a:r>
            <a:r>
              <a:rPr lang="en-US" altLang="zh-CN" dirty="0"/>
              <a:t>2402 </a:t>
            </a:r>
            <a:r>
              <a:rPr lang="zh-CN" altLang="en-US" dirty="0"/>
              <a:t>阮弘毅</a:t>
            </a:r>
          </a:p>
        </p:txBody>
      </p:sp>
    </p:spTree>
    <p:extLst>
      <p:ext uri="{BB962C8B-B14F-4D97-AF65-F5344CB8AC3E}">
        <p14:creationId xmlns:p14="http://schemas.microsoft.com/office/powerpoint/2010/main" val="856217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93C2985A-9145-BED3-73AD-B2E667C2D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012" y="108641"/>
            <a:ext cx="10515600" cy="1325563"/>
          </a:xfrm>
        </p:spPr>
        <p:txBody>
          <a:bodyPr/>
          <a:lstStyle/>
          <a:p>
            <a:r>
              <a:rPr lang="en-US" altLang="zh-CN" dirty="0">
                <a:hlinkClick r:id="rId2"/>
              </a:rPr>
              <a:t>5017. </a:t>
            </a:r>
            <a:r>
              <a:rPr lang="zh-CN" altLang="en-US" dirty="0">
                <a:hlinkClick r:id="rId2"/>
              </a:rPr>
              <a:t>垦田计划 </a:t>
            </a:r>
            <a:r>
              <a:rPr lang="en-US" altLang="zh-CN" dirty="0">
                <a:hlinkClick r:id="rId2"/>
              </a:rPr>
              <a:t>- AcWing</a:t>
            </a:r>
            <a:r>
              <a:rPr lang="zh-CN" altLang="en-US" dirty="0">
                <a:hlinkClick r:id="rId2"/>
              </a:rPr>
              <a:t>题库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23FDBDB-3222-88B9-6C49-167982DCF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094" y="1497302"/>
            <a:ext cx="8659812" cy="446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201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912B97-CA58-A10E-9E70-AF8F0333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解题思路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03A650-D6FC-7477-B208-679090AB6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1912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对于求最值的题目，可以考虑使用二分。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对于本题，可以二分最终的答案，在每次</a:t>
            </a:r>
            <a:r>
              <a:rPr lang="en-US" altLang="zh-CN" dirty="0">
                <a:latin typeface="Consolas" panose="020B0609020204030204" pitchFamily="49" charset="0"/>
              </a:rPr>
              <a:t>check</a:t>
            </a:r>
            <a:r>
              <a:rPr lang="zh-CN" altLang="en-US" dirty="0">
                <a:latin typeface="Consolas" panose="020B0609020204030204" pitchFamily="49" charset="0"/>
              </a:rPr>
              <a:t>的过程中，如果当前的时间大于二分的</a:t>
            </a:r>
            <a:r>
              <a:rPr lang="en-US" altLang="zh-CN" dirty="0">
                <a:latin typeface="Consolas" panose="020B0609020204030204" pitchFamily="49" charset="0"/>
              </a:rPr>
              <a:t>mid</a:t>
            </a:r>
            <a:r>
              <a:rPr lang="zh-CN" altLang="en-US" dirty="0">
                <a:latin typeface="Consolas" panose="020B0609020204030204" pitchFamily="49" charset="0"/>
              </a:rPr>
              <a:t>，则将其减至</a:t>
            </a:r>
            <a:r>
              <a:rPr lang="en-US" altLang="zh-CN" dirty="0">
                <a:latin typeface="Consolas" panose="020B0609020204030204" pitchFamily="49" charset="0"/>
              </a:rPr>
              <a:t>mid</a:t>
            </a:r>
            <a:r>
              <a:rPr lang="zh-CN" altLang="en-US" dirty="0">
                <a:latin typeface="Consolas" panose="020B0609020204030204" pitchFamily="49" charset="0"/>
              </a:rPr>
              <a:t>，最后只需要看使用的总代价是否大于给定的可用代价即可。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206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A1749-2960-DED5-EC89-49E98DB13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BB5F0-C0B7-7ECD-4FE6-2169FE143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1D86E2E-04BB-8B66-2F60-3B91C76D8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457" y="0"/>
            <a:ext cx="71570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353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2DCF1-3720-0B67-7B75-C63167B91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BCBE0295-DA40-CBC6-E604-44DF11572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012" y="108641"/>
            <a:ext cx="10515600" cy="1325563"/>
          </a:xfrm>
        </p:spPr>
        <p:txBody>
          <a:bodyPr/>
          <a:lstStyle/>
          <a:p>
            <a:r>
              <a:rPr lang="en-US" altLang="zh-CN" dirty="0">
                <a:hlinkClick r:id="rId2"/>
              </a:rPr>
              <a:t>5720. </a:t>
            </a:r>
            <a:r>
              <a:rPr lang="zh-CN" altLang="en-US" dirty="0">
                <a:hlinkClick r:id="rId2"/>
              </a:rPr>
              <a:t>相似度计算 </a:t>
            </a:r>
            <a:r>
              <a:rPr lang="en-US" altLang="zh-CN" dirty="0">
                <a:hlinkClick r:id="rId2"/>
              </a:rPr>
              <a:t>- AcWing</a:t>
            </a:r>
            <a:r>
              <a:rPr lang="zh-CN" altLang="en-US" dirty="0">
                <a:hlinkClick r:id="rId2"/>
              </a:rPr>
              <a:t>题库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A5DDCB7-898E-742D-87BF-F966507CF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597" y="1434204"/>
            <a:ext cx="7848805" cy="537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700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6E2DB-7DC2-FE88-ED6F-BB8E6D573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306A5C-87CF-33E9-CEEF-A338EC1E1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解题思路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04143D-5B44-3B6A-9EF9-B34DC09F4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1912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统计每个字符串中每个单词是否在另一个字符串中出现，可以使用</a:t>
            </a:r>
            <a:r>
              <a:rPr lang="en-US" altLang="zh-CN" dirty="0" err="1">
                <a:latin typeface="Consolas" panose="020B0609020204030204" pitchFamily="49" charset="0"/>
              </a:rPr>
              <a:t>stl</a:t>
            </a:r>
            <a:r>
              <a:rPr lang="zh-CN" altLang="en-US" dirty="0">
                <a:latin typeface="Consolas" panose="020B0609020204030204" pitchFamily="49" charset="0"/>
              </a:rPr>
              <a:t>中的</a:t>
            </a:r>
            <a:r>
              <a:rPr lang="en-US" altLang="zh-CN" dirty="0">
                <a:latin typeface="Consolas" panose="020B0609020204030204" pitchFamily="49" charset="0"/>
              </a:rPr>
              <a:t>std::set</a:t>
            </a:r>
            <a:r>
              <a:rPr lang="zh-CN" altLang="en-US" dirty="0">
                <a:latin typeface="Consolas" panose="020B0609020204030204" pitchFamily="49" charset="0"/>
              </a:rPr>
              <a:t>来进行不重复的统计。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把两个字符串中的单词分别加入两个</a:t>
            </a:r>
            <a:r>
              <a:rPr lang="en-US" altLang="zh-CN" dirty="0">
                <a:latin typeface="Consolas" panose="020B0609020204030204" pitchFamily="49" charset="0"/>
              </a:rPr>
              <a:t>set</a:t>
            </a:r>
            <a:r>
              <a:rPr lang="zh-CN" altLang="en-US" dirty="0">
                <a:latin typeface="Consolas" panose="020B0609020204030204" pitchFamily="49" charset="0"/>
              </a:rPr>
              <a:t>，然后遍历其中一个</a:t>
            </a:r>
            <a:r>
              <a:rPr lang="en-US" altLang="zh-CN" dirty="0">
                <a:latin typeface="Consolas" panose="020B0609020204030204" pitchFamily="49" charset="0"/>
              </a:rPr>
              <a:t>set</a:t>
            </a:r>
            <a:r>
              <a:rPr lang="zh-CN" altLang="en-US" dirty="0">
                <a:latin typeface="Consolas" panose="020B0609020204030204" pitchFamily="49" charset="0"/>
              </a:rPr>
              <a:t>，使用</a:t>
            </a:r>
            <a:r>
              <a:rPr lang="en-US" altLang="zh-CN" dirty="0">
                <a:latin typeface="Consolas" panose="020B0609020204030204" pitchFamily="49" charset="0"/>
              </a:rPr>
              <a:t>count()</a:t>
            </a:r>
            <a:r>
              <a:rPr lang="zh-CN" altLang="en-US" dirty="0">
                <a:latin typeface="Consolas" panose="020B0609020204030204" pitchFamily="49" charset="0"/>
              </a:rPr>
              <a:t>来查看是否在另一个字符串中出现，记录答案即可。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对于第二问，可以使用简单的容斥原理解决。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614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83904-8446-C355-A2D5-791D759CC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39E994-36C5-4CD4-5A48-E6C6AFD6A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6B1FCBD-B941-06A7-EAFD-C7DB236BE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026" y="65137"/>
            <a:ext cx="5540974" cy="679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760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B7A20-22C4-8275-C60B-583A14CCA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FC4F85B1-F459-E144-8D01-7B005DE33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012" y="108641"/>
            <a:ext cx="10515600" cy="1325563"/>
          </a:xfrm>
        </p:spPr>
        <p:txBody>
          <a:bodyPr/>
          <a:lstStyle/>
          <a:p>
            <a:r>
              <a:rPr lang="zh-CN" altLang="en-US" dirty="0">
                <a:hlinkClick r:id="rId2"/>
              </a:rPr>
              <a:t>第</a:t>
            </a:r>
            <a:r>
              <a:rPr lang="en-US" altLang="zh-CN" dirty="0">
                <a:hlinkClick r:id="rId2"/>
              </a:rPr>
              <a:t>36</a:t>
            </a:r>
            <a:r>
              <a:rPr lang="zh-CN" altLang="en-US" dirty="0">
                <a:hlinkClick r:id="rId2"/>
              </a:rPr>
              <a:t>次</a:t>
            </a:r>
            <a:r>
              <a:rPr lang="en-US" altLang="zh-CN" dirty="0">
                <a:hlinkClick r:id="rId2"/>
              </a:rPr>
              <a:t>CCF</a:t>
            </a:r>
            <a:r>
              <a:rPr lang="zh-CN" altLang="en-US" dirty="0">
                <a:hlinkClick r:id="rId2"/>
              </a:rPr>
              <a:t>计算机软件能力认证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AB77CCB-067E-D932-EA54-D11AE8E34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19" y="1603633"/>
            <a:ext cx="10432761" cy="452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606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9B426-2871-15D0-7566-ECDAEB7D0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7F3F93-33BD-774E-3435-913B93940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解题思路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A3C48B-5E90-7C92-7C70-BB7555933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1912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先考虑当没有区域出现意外时是什么样子的。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对于区域</a:t>
            </a:r>
            <a:r>
              <a:rPr lang="en-US" altLang="zh-CN" dirty="0">
                <a:latin typeface="Consolas" panose="020B0609020204030204" pitchFamily="49" charset="0"/>
              </a:rPr>
              <a:t>1</a:t>
            </a:r>
            <a:r>
              <a:rPr lang="zh-CN" altLang="en-US" dirty="0">
                <a:latin typeface="Consolas" panose="020B0609020204030204" pitchFamily="49" charset="0"/>
              </a:rPr>
              <a:t>，要进入显然需要</a:t>
            </a:r>
            <a:r>
              <a:rPr lang="en-US" altLang="zh-CN" dirty="0">
                <a:latin typeface="Consolas" panose="020B0609020204030204" pitchFamily="49" charset="0"/>
              </a:rPr>
              <a:t>w&gt;=a[0]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对于区域</a:t>
            </a:r>
            <a:r>
              <a:rPr lang="en-US" altLang="zh-CN" dirty="0">
                <a:latin typeface="Consolas" panose="020B0609020204030204" pitchFamily="49" charset="0"/>
              </a:rPr>
              <a:t>2</a:t>
            </a:r>
            <a:r>
              <a:rPr lang="zh-CN" altLang="en-US" dirty="0">
                <a:latin typeface="Consolas" panose="020B0609020204030204" pitchFamily="49" charset="0"/>
              </a:rPr>
              <a:t>，需要</a:t>
            </a:r>
            <a:r>
              <a:rPr lang="en-US" altLang="zh-CN" dirty="0">
                <a:latin typeface="Consolas" panose="020B0609020204030204" pitchFamily="49" charset="0"/>
              </a:rPr>
              <a:t>w&gt;=a[0]+(a[1]-b[1])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对于区域</a:t>
            </a:r>
            <a:r>
              <a:rPr lang="en-US" altLang="zh-CN" dirty="0">
                <a:latin typeface="Consolas" panose="020B0609020204030204" pitchFamily="49" charset="0"/>
              </a:rPr>
              <a:t>3</a:t>
            </a:r>
            <a:r>
              <a:rPr lang="zh-CN" altLang="en-US" dirty="0">
                <a:latin typeface="Consolas" panose="020B0609020204030204" pitchFamily="49" charset="0"/>
              </a:rPr>
              <a:t>，需要</a:t>
            </a:r>
            <a:r>
              <a:rPr lang="en-US" altLang="zh-CN" dirty="0">
                <a:latin typeface="Consolas" panose="020B0609020204030204" pitchFamily="49" charset="0"/>
              </a:rPr>
              <a:t>w&gt;=a[0]+(a[1]-b[1])+(a[2]-b[2])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66678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31606-CDA4-A7F3-05D7-720C2CA89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E26F10-7CCA-02A0-3F0C-2C6BA4BF5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解题思路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615985-3AFF-8237-E96F-5F4D6DFA9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1912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不难发现，要想进入区域</a:t>
            </a:r>
            <a:r>
              <a:rPr lang="en-US" altLang="zh-CN" dirty="0">
                <a:latin typeface="Consolas" panose="020B0609020204030204" pitchFamily="49" charset="0"/>
              </a:rPr>
              <a:t>n</a:t>
            </a:r>
            <a:r>
              <a:rPr lang="zh-CN" altLang="en-US" dirty="0">
                <a:latin typeface="Consolas" panose="020B0609020204030204" pitchFamily="49" charset="0"/>
              </a:rPr>
              <a:t>，需要满足前面全部的条件，也就是说，只需要前面的约束取一个</a:t>
            </a:r>
            <a:r>
              <a:rPr lang="en-US" altLang="zh-CN" dirty="0">
                <a:latin typeface="Consolas" panose="020B0609020204030204" pitchFamily="49" charset="0"/>
              </a:rPr>
              <a:t>max</a:t>
            </a:r>
            <a:r>
              <a:rPr lang="zh-CN" altLang="en-US" dirty="0">
                <a:latin typeface="Consolas" panose="020B0609020204030204" pitchFamily="49" charset="0"/>
              </a:rPr>
              <a:t>即可。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因此，我们可以记录前缀最大值，这样，没有区域出现意外的情况就可以轻松求解。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100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009C8-09F0-C2C9-E33D-F85EA5715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D6028B-5175-3B58-37C0-8D3D26C20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解题思路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348256-994F-8984-2263-0563C8BC5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1912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再来考虑第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zh-CN" altLang="en-US" dirty="0">
                <a:latin typeface="Consolas" panose="020B0609020204030204" pitchFamily="49" charset="0"/>
              </a:rPr>
              <a:t>个区域出现了意外，也就是说</a:t>
            </a:r>
            <a:r>
              <a:rPr lang="en-US" altLang="zh-CN" dirty="0">
                <a:latin typeface="Consolas" panose="020B0609020204030204" pitchFamily="49" charset="0"/>
              </a:rPr>
              <a:t>b[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]</a:t>
            </a:r>
            <a:r>
              <a:rPr lang="zh-CN" altLang="en-US" dirty="0">
                <a:latin typeface="Consolas" panose="020B0609020204030204" pitchFamily="49" charset="0"/>
              </a:rPr>
              <a:t>变为了</a:t>
            </a:r>
            <a:r>
              <a:rPr lang="en-US" altLang="zh-CN" dirty="0">
                <a:latin typeface="Consolas" panose="020B0609020204030204" pitchFamily="49" charset="0"/>
              </a:rPr>
              <a:t>0</a:t>
            </a:r>
            <a:r>
              <a:rPr lang="zh-CN" altLang="en-US" dirty="0">
                <a:latin typeface="Consolas" panose="020B0609020204030204" pitchFamily="49" charset="0"/>
              </a:rPr>
              <a:t>。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对于第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zh-CN" altLang="en-US" dirty="0">
                <a:latin typeface="Consolas" panose="020B0609020204030204" pitchFamily="49" charset="0"/>
              </a:rPr>
              <a:t>个区域之前，并没有意外发生，可以和前面做法一致。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对于第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zh-CN" altLang="en-US" dirty="0">
                <a:latin typeface="Consolas" panose="020B0609020204030204" pitchFamily="49" charset="0"/>
              </a:rPr>
              <a:t>个区域以及之后，所有的前缀和需要补偿</a:t>
            </a:r>
            <a:r>
              <a:rPr lang="en-US" altLang="zh-CN" dirty="0">
                <a:latin typeface="Consolas" panose="020B0609020204030204" pitchFamily="49" charset="0"/>
              </a:rPr>
              <a:t>b[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]</a:t>
            </a:r>
            <a:r>
              <a:rPr lang="zh-CN" altLang="en-US" dirty="0">
                <a:latin typeface="Consolas" panose="020B0609020204030204" pitchFamily="49" charset="0"/>
              </a:rPr>
              <a:t>，也就是</a:t>
            </a:r>
            <a:r>
              <a:rPr lang="en-US" altLang="zh-CN" dirty="0">
                <a:latin typeface="Consolas" panose="020B0609020204030204" pitchFamily="49" charset="0"/>
              </a:rPr>
              <a:t>w&gt;=max{sum[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]+b[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],sum[i+1]+b[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],…,sum[n]+b[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]}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提取</a:t>
            </a:r>
            <a:r>
              <a:rPr lang="en-US" altLang="zh-CN" dirty="0">
                <a:latin typeface="Consolas" panose="020B0609020204030204" pitchFamily="49" charset="0"/>
              </a:rPr>
              <a:t>b[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],</a:t>
            </a:r>
            <a:r>
              <a:rPr lang="zh-CN" altLang="en-US" dirty="0">
                <a:latin typeface="Consolas" panose="020B0609020204030204" pitchFamily="49" charset="0"/>
              </a:rPr>
              <a:t>有</a:t>
            </a:r>
            <a:r>
              <a:rPr lang="en-US" altLang="zh-CN" dirty="0">
                <a:latin typeface="Consolas" panose="020B0609020204030204" pitchFamily="49" charset="0"/>
              </a:rPr>
              <a:t>w&gt;=b[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]+max{sum[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],sum[i+1],…,sum[n]}</a:t>
            </a:r>
          </a:p>
        </p:txBody>
      </p:sp>
    </p:spTree>
    <p:extLst>
      <p:ext uri="{BB962C8B-B14F-4D97-AF65-F5344CB8AC3E}">
        <p14:creationId xmlns:p14="http://schemas.microsoft.com/office/powerpoint/2010/main" val="2069150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2E985-3897-AF01-42FA-3E69F81E2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9DBEB4-375F-2E06-C6C4-99A52F57C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解题思路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F58013-751D-AFAB-DE5E-852D7CFA3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27145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这提示我们，可以再记录一个后缀最大值，对于第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zh-CN" altLang="en-US" dirty="0">
                <a:latin typeface="Consolas" panose="020B0609020204030204" pitchFamily="49" charset="0"/>
              </a:rPr>
              <a:t>个地方，只需要把前缀最大值和后缀最大值</a:t>
            </a:r>
            <a:r>
              <a:rPr lang="en-US" altLang="zh-CN" dirty="0">
                <a:latin typeface="Consolas" panose="020B0609020204030204" pitchFamily="49" charset="0"/>
              </a:rPr>
              <a:t>+b[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]</a:t>
            </a:r>
            <a:r>
              <a:rPr lang="zh-CN" altLang="en-US" dirty="0">
                <a:latin typeface="Consolas" panose="020B0609020204030204" pitchFamily="49" charset="0"/>
              </a:rPr>
              <a:t>取一个</a:t>
            </a:r>
            <a:r>
              <a:rPr lang="en-US" altLang="zh-CN" dirty="0">
                <a:latin typeface="Consolas" panose="020B0609020204030204" pitchFamily="49" charset="0"/>
              </a:rPr>
              <a:t>max</a:t>
            </a:r>
            <a:r>
              <a:rPr lang="zh-CN" altLang="en-US" dirty="0">
                <a:latin typeface="Consolas" panose="020B0609020204030204" pitchFamily="49" charset="0"/>
              </a:rPr>
              <a:t>即可。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306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4452D-ACFF-86BA-E58B-5D0FED616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49AC5C-7FBF-5EA7-17A1-AE0F868D6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E8C7A33-E93B-0982-7346-ECE1B57EC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167" y="1125184"/>
            <a:ext cx="8777646" cy="517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05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FF0F9-98EB-B5BF-891B-2A2C5CB74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2EC43B3D-B5E3-1B7C-AC04-E1AE6D296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012" y="108641"/>
            <a:ext cx="10515600" cy="1325563"/>
          </a:xfrm>
        </p:spPr>
        <p:txBody>
          <a:bodyPr/>
          <a:lstStyle/>
          <a:p>
            <a:r>
              <a:rPr lang="zh-CN" altLang="en-US" dirty="0">
                <a:hlinkClick r:id="rId2"/>
              </a:rPr>
              <a:t>第</a:t>
            </a:r>
            <a:r>
              <a:rPr lang="en-US" altLang="zh-CN" dirty="0">
                <a:hlinkClick r:id="rId2"/>
              </a:rPr>
              <a:t>38</a:t>
            </a:r>
            <a:r>
              <a:rPr lang="zh-CN" altLang="en-US" dirty="0">
                <a:hlinkClick r:id="rId2"/>
              </a:rPr>
              <a:t>次</a:t>
            </a:r>
            <a:r>
              <a:rPr lang="en-US" altLang="zh-CN" dirty="0">
                <a:hlinkClick r:id="rId2"/>
              </a:rPr>
              <a:t>CCF</a:t>
            </a:r>
            <a:r>
              <a:rPr lang="zh-CN" altLang="en-US" dirty="0">
                <a:hlinkClick r:id="rId2"/>
              </a:rPr>
              <a:t>计算机软件能力认证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06D9DB6-0E93-3433-8BC7-BF8183C28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274" y="1547778"/>
            <a:ext cx="9601451" cy="484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795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5B85E-1B78-97CF-A750-D29FB09F3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3D19B2-796B-5FA4-E849-F6E436E3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解题思路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3B90C8-0CFB-90A9-0648-3B36E530F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1912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使用</a:t>
            </a:r>
            <a:r>
              <a:rPr lang="en-US" altLang="zh-CN" dirty="0" err="1">
                <a:latin typeface="Consolas" panose="020B0609020204030204" pitchFamily="49" charset="0"/>
              </a:rPr>
              <a:t>dfs</a:t>
            </a:r>
            <a:r>
              <a:rPr lang="en-US" altLang="zh-CN" dirty="0">
                <a:latin typeface="Consolas" panose="020B0609020204030204" pitchFamily="49" charset="0"/>
              </a:rPr>
              <a:t>,</a:t>
            </a:r>
            <a:r>
              <a:rPr lang="zh-CN" altLang="en-US" dirty="0">
                <a:latin typeface="Consolas" panose="020B0609020204030204" pitchFamily="49" charset="0"/>
              </a:rPr>
              <a:t>从起始位置开始搜索，每经过一个地方，答案</a:t>
            </a:r>
            <a:r>
              <a:rPr lang="en-US" altLang="zh-CN" dirty="0">
                <a:latin typeface="Consolas" panose="020B0609020204030204" pitchFamily="49" charset="0"/>
              </a:rPr>
              <a:t>+1</a:t>
            </a:r>
            <a:r>
              <a:rPr lang="zh-CN" altLang="en-US" dirty="0">
                <a:latin typeface="Consolas" panose="020B0609020204030204" pitchFamily="49" charset="0"/>
              </a:rPr>
              <a:t>即可。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注意到已经经过的点没有必要再经过第二次，所以可以使用</a:t>
            </a:r>
            <a:r>
              <a:rPr lang="en-US" altLang="zh-CN" dirty="0">
                <a:latin typeface="Consolas" panose="020B0609020204030204" pitchFamily="49" charset="0"/>
              </a:rPr>
              <a:t>vis[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][j]</a:t>
            </a:r>
            <a:r>
              <a:rPr lang="zh-CN" altLang="en-US" dirty="0">
                <a:latin typeface="Consolas" panose="020B0609020204030204" pitchFamily="49" charset="0"/>
              </a:rPr>
              <a:t>记录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, j)</a:t>
            </a:r>
            <a:r>
              <a:rPr lang="zh-CN" altLang="en-US" dirty="0">
                <a:latin typeface="Consolas" panose="020B0609020204030204" pitchFamily="49" charset="0"/>
              </a:rPr>
              <a:t>位置是否走过，可以大量减少搜索量。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492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A9682-3BCD-DBDD-AFD3-375FA2ADD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063D00-781D-D651-8CFC-B300A06A0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A861A0-ABD1-94A7-5B49-63C43E42C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240" y="527235"/>
            <a:ext cx="8830761" cy="580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864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227F4-44C9-7FE9-724B-6C601DA8C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B3F0E620-4786-3611-DF10-74DA6F30C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012" y="108641"/>
            <a:ext cx="11139154" cy="1325563"/>
          </a:xfrm>
        </p:spPr>
        <p:txBody>
          <a:bodyPr/>
          <a:lstStyle/>
          <a:p>
            <a:r>
              <a:rPr lang="zh-CN" altLang="en-US" dirty="0">
                <a:hlinkClick r:id="rId2"/>
              </a:rPr>
              <a:t>第</a:t>
            </a:r>
            <a:r>
              <a:rPr lang="en-US" altLang="zh-CN" dirty="0">
                <a:hlinkClick r:id="rId2"/>
              </a:rPr>
              <a:t>37</a:t>
            </a:r>
            <a:r>
              <a:rPr lang="zh-CN" altLang="en-US" dirty="0">
                <a:hlinkClick r:id="rId2"/>
              </a:rPr>
              <a:t>次</a:t>
            </a:r>
            <a:r>
              <a:rPr lang="en-US" altLang="zh-CN" dirty="0">
                <a:hlinkClick r:id="rId2"/>
              </a:rPr>
              <a:t>CCF</a:t>
            </a:r>
            <a:r>
              <a:rPr lang="zh-CN" altLang="en-US" dirty="0">
                <a:hlinkClick r:id="rId2"/>
              </a:rPr>
              <a:t>计算机软件能力认证</a:t>
            </a:r>
            <a:r>
              <a:rPr lang="zh-CN" altLang="en-US" dirty="0"/>
              <a:t>（动态规划）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15B6203-DC07-286D-9F5A-FF557D638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184" y="1584090"/>
            <a:ext cx="9637631" cy="448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21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10D6C-2A55-15CE-CD69-245CF1452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086EE2-B66A-66EA-CDEE-6F8A58EF7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解题思路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FAC34D-AAD0-D2D9-A58C-2F232ABA8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1912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考虑使用动态规划的思想。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Consolas" panose="020B0609020204030204" pitchFamily="49" charset="0"/>
              </a:rPr>
              <a:t>dp</a:t>
            </a:r>
            <a:r>
              <a:rPr lang="en-US" altLang="zh-CN" dirty="0">
                <a:latin typeface="Consolas" panose="020B0609020204030204" pitchFamily="49" charset="0"/>
              </a:rPr>
              <a:t>[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][j]</a:t>
            </a:r>
            <a:r>
              <a:rPr lang="zh-CN" altLang="en-US" dirty="0">
                <a:latin typeface="Consolas" panose="020B0609020204030204" pitchFamily="49" charset="0"/>
              </a:rPr>
              <a:t>表示当前考虑到第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zh-CN" altLang="en-US" dirty="0">
                <a:latin typeface="Consolas" panose="020B0609020204030204" pitchFamily="49" charset="0"/>
              </a:rPr>
              <a:t>个物品，背包容量为</a:t>
            </a:r>
            <a:r>
              <a:rPr lang="en-US" altLang="zh-CN" dirty="0">
                <a:latin typeface="Consolas" panose="020B0609020204030204" pitchFamily="49" charset="0"/>
              </a:rPr>
              <a:t>j</a:t>
            </a:r>
            <a:r>
              <a:rPr lang="zh-CN" altLang="en-US" dirty="0">
                <a:latin typeface="Consolas" panose="020B0609020204030204" pitchFamily="49" charset="0"/>
              </a:rPr>
              <a:t>时的最大快乐值，列出状态转移方程即可。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075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F9FEF-70BE-A216-734D-93AB993CD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4500F5-9255-1AA1-1411-F80380926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C06823F-534E-617B-077E-303CA704C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417" y="1595874"/>
            <a:ext cx="9976834" cy="4513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1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9ABB5-B22D-5F11-EE9E-B27BBD05E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15A1B5-B572-53DD-D174-EC2295297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代码（思考题）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0DD1BB-E662-08AC-FEBD-40E07C0CA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823" y="1842621"/>
            <a:ext cx="8175385" cy="412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105B59-AA63-DE6E-1F7A-99272BC094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谢谢大家！</a:t>
            </a:r>
          </a:p>
        </p:txBody>
      </p:sp>
    </p:spTree>
    <p:extLst>
      <p:ext uri="{BB962C8B-B14F-4D97-AF65-F5344CB8AC3E}">
        <p14:creationId xmlns:p14="http://schemas.microsoft.com/office/powerpoint/2010/main" val="731969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604</Words>
  <Application>Microsoft Office PowerPoint</Application>
  <PresentationFormat>宽屏</PresentationFormat>
  <Paragraphs>45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等线</vt:lpstr>
      <vt:lpstr>等线 Light</vt:lpstr>
      <vt:lpstr>Arial</vt:lpstr>
      <vt:lpstr>Consolas</vt:lpstr>
      <vt:lpstr>Office 主题​​</vt:lpstr>
      <vt:lpstr>CCF-CSP第二题选讲</vt:lpstr>
      <vt:lpstr>5017. 垦田计划 - AcWing题库</vt:lpstr>
      <vt:lpstr>解题思路</vt:lpstr>
      <vt:lpstr>代码</vt:lpstr>
      <vt:lpstr>5720. 相似度计算 - AcWing题库</vt:lpstr>
      <vt:lpstr>解题思路</vt:lpstr>
      <vt:lpstr>代码</vt:lpstr>
      <vt:lpstr>第36次CCF计算机软件能力认证</vt:lpstr>
      <vt:lpstr>解题思路</vt:lpstr>
      <vt:lpstr>解题思路</vt:lpstr>
      <vt:lpstr>解题思路</vt:lpstr>
      <vt:lpstr>解题思路</vt:lpstr>
      <vt:lpstr>代码</vt:lpstr>
      <vt:lpstr>第38次CCF计算机软件能力认证</vt:lpstr>
      <vt:lpstr>解题思路</vt:lpstr>
      <vt:lpstr>代码</vt:lpstr>
      <vt:lpstr>第37次CCF计算机软件能力认证（动态规划）</vt:lpstr>
      <vt:lpstr>解题思路</vt:lpstr>
      <vt:lpstr>代码</vt:lpstr>
      <vt:lpstr>代码（思考题）</vt:lpstr>
      <vt:lpstr>谢谢大家！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弘毅 阮</dc:creator>
  <cp:lastModifiedBy>弘毅 阮</cp:lastModifiedBy>
  <cp:revision>46</cp:revision>
  <dcterms:created xsi:type="dcterms:W3CDTF">2025-08-27T04:27:25Z</dcterms:created>
  <dcterms:modified xsi:type="dcterms:W3CDTF">2025-09-08T12:06:55Z</dcterms:modified>
</cp:coreProperties>
</file>